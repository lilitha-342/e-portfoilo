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17"/>
  </p:notesMasterIdLst>
  <p:sldIdLst>
    <p:sldId id="256" r:id="rId3"/>
    <p:sldId id="261" r:id="rId4"/>
    <p:sldId id="258" r:id="rId5"/>
    <p:sldId id="259" r:id="rId6"/>
    <p:sldId id="260"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719" autoAdjust="0"/>
  </p:normalViewPr>
  <p:slideViewPr>
    <p:cSldViewPr snapToGrid="0">
      <p:cViewPr varScale="1">
        <p:scale>
          <a:sx n="75" d="100"/>
          <a:sy n="75" d="100"/>
        </p:scale>
        <p:origin x="9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3349DE-6804-4994-90E0-51663F154F3B}" type="datetimeFigureOut">
              <a:rPr lang="en-ZA" smtClean="0"/>
              <a:t>2026/08/06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E0DA5-FA9A-4D90-93D7-C352AB989C01}" type="slidenum">
              <a:rPr lang="en-ZA" smtClean="0"/>
              <a:t>‹#›</a:t>
            </a:fld>
            <a:endParaRPr lang="en-ZA"/>
          </a:p>
        </p:txBody>
      </p:sp>
    </p:spTree>
    <p:extLst>
      <p:ext uri="{BB962C8B-B14F-4D97-AF65-F5344CB8AC3E}">
        <p14:creationId xmlns:p14="http://schemas.microsoft.com/office/powerpoint/2010/main" val="308063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8/6/2026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30241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8/6/2026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508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8/6/2026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8424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8/6/2026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66466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8/6/2026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39039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8/6/2026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0932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8/6/2026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453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8/6/2026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437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8/6/2026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9576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8/6/2026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7440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8/6/2026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92084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457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409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7017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65103387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 id="2147483672" r:id="rId12"/>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168509"/>
      </p:ext>
    </p:extLst>
  </p:cSld>
  <p:clrMap bg1="lt1" tx1="dk1" bg2="lt2" tx2="dk2" accent1="accent1" accent2="accent2" accent3="accent3" accent4="accent4" accent5="accent5" accent6="accent6" hlink="hlink" folHlink="folHlink"/>
  <p:sldLayoutIdLst>
    <p:sldLayoutId id="2147483674" r:id="rId1"/>
    <p:sldLayoutId id="214748367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5473D2-DD46-DFAF-84EC-264D6CE58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A618FD-C533-28E1-51ED-B09E9FD95797}"/>
              </a:ext>
            </a:extLst>
          </p:cNvPr>
          <p:cNvSpPr>
            <a:spLocks noGrp="1"/>
          </p:cNvSpPr>
          <p:nvPr>
            <p:ph type="ctrTitle"/>
          </p:nvPr>
        </p:nvSpPr>
        <p:spPr>
          <a:xfrm>
            <a:off x="7843394" y="1585762"/>
            <a:ext cx="3788767" cy="2811737"/>
          </a:xfrm>
        </p:spPr>
        <p:txBody>
          <a:bodyPr>
            <a:normAutofit/>
          </a:bodyPr>
          <a:lstStyle/>
          <a:p>
            <a:pPr algn="l"/>
            <a:r>
              <a:rPr lang="en-US" sz="4400"/>
              <a:t>Brand Guide</a:t>
            </a:r>
            <a:endParaRPr lang="en-ZA" sz="4400"/>
          </a:p>
        </p:txBody>
      </p:sp>
      <p:sp>
        <p:nvSpPr>
          <p:cNvPr id="3" name="Subtitle 2">
            <a:extLst>
              <a:ext uri="{FF2B5EF4-FFF2-40B4-BE49-F238E27FC236}">
                <a16:creationId xmlns:a16="http://schemas.microsoft.com/office/drawing/2014/main" id="{73BB2E3B-2E04-8665-FFE6-CC5AE9845344}"/>
              </a:ext>
            </a:extLst>
          </p:cNvPr>
          <p:cNvSpPr>
            <a:spLocks noGrp="1"/>
          </p:cNvSpPr>
          <p:nvPr>
            <p:ph type="subTitle" idx="1"/>
          </p:nvPr>
        </p:nvSpPr>
        <p:spPr>
          <a:xfrm>
            <a:off x="7843395" y="4524046"/>
            <a:ext cx="3614857" cy="1319951"/>
          </a:xfrm>
        </p:spPr>
        <p:txBody>
          <a:bodyPr>
            <a:normAutofit/>
          </a:bodyPr>
          <a:lstStyle/>
          <a:p>
            <a:pPr algn="l"/>
            <a:r>
              <a:rPr lang="en-ZA" i="1" dirty="0">
                <a:latin typeface="Arial" panose="020B0604020202020204" pitchFamily="34" charset="0"/>
                <a:cs typeface="Arial" panose="020B0604020202020204" pitchFamily="34" charset="0"/>
              </a:rPr>
              <a:t>Connecting Homes. Empowering Communities</a:t>
            </a:r>
            <a:endParaRPr lang="en-ZA"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7311BC1-6A98-2A23-B3A2-B5CC128E9E81}"/>
              </a:ext>
            </a:extLst>
          </p:cNvPr>
          <p:cNvPicPr>
            <a:picLocks noChangeAspect="1"/>
          </p:cNvPicPr>
          <p:nvPr/>
        </p:nvPicPr>
        <p:blipFill>
          <a:blip r:embed="rId2">
            <a:extLst>
              <a:ext uri="{28A0092B-C50C-407E-A947-70E740481C1C}">
                <a14:useLocalDpi xmlns:a14="http://schemas.microsoft.com/office/drawing/2010/main" val="0"/>
              </a:ext>
            </a:extLst>
          </a:blip>
          <a:srcRect r="355" b="-1"/>
          <a:stretch>
            <a:fillRect/>
          </a:stretch>
        </p:blipFill>
        <p:spPr>
          <a:xfrm>
            <a:off x="2" y="10"/>
            <a:ext cx="7367752" cy="6857990"/>
          </a:xfrm>
          <a:prstGeom prst="rect">
            <a:avLst/>
          </a:prstGeom>
        </p:spPr>
      </p:pic>
    </p:spTree>
    <p:extLst>
      <p:ext uri="{BB962C8B-B14F-4D97-AF65-F5344CB8AC3E}">
        <p14:creationId xmlns:p14="http://schemas.microsoft.com/office/powerpoint/2010/main" val="54898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BRAND OVERVIEW</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Our Promise &amp; Positioning</a:t>
            </a:r>
            <a:endParaRPr lang="en-US" sz="3000" dirty="0"/>
          </a:p>
        </p:txBody>
      </p:sp>
      <p:sp>
        <p:nvSpPr>
          <p:cNvPr id="4" name="Shape 2"/>
          <p:cNvSpPr/>
          <p:nvPr/>
        </p:nvSpPr>
        <p:spPr>
          <a:xfrm>
            <a:off x="548640" y="1508760"/>
            <a:ext cx="11064240" cy="1417320"/>
          </a:xfrm>
          <a:prstGeom prst="roundRect">
            <a:avLst>
              <a:gd name="adj" fmla="val 6452"/>
            </a:avLst>
          </a:prstGeom>
          <a:solidFill>
            <a:srgbClr val="0B8C3F"/>
          </a:solidFill>
          <a:ln/>
        </p:spPr>
        <p:txBody>
          <a:bodyPr/>
          <a:lstStyle/>
          <a:p>
            <a:endParaRPr lang="en-ZA"/>
          </a:p>
        </p:txBody>
      </p:sp>
      <p:sp>
        <p:nvSpPr>
          <p:cNvPr id="5" name="Text 3"/>
          <p:cNvSpPr/>
          <p:nvPr/>
        </p:nvSpPr>
        <p:spPr>
          <a:xfrm>
            <a:off x="868680" y="1691640"/>
            <a:ext cx="5486400" cy="274320"/>
          </a:xfrm>
          <a:prstGeom prst="rect">
            <a:avLst/>
          </a:prstGeom>
          <a:noFill/>
          <a:ln/>
        </p:spPr>
        <p:txBody>
          <a:bodyPr wrap="square" rtlCol="0" anchor="ctr"/>
          <a:lstStyle/>
          <a:p>
            <a:pPr marL="0" indent="0">
              <a:buNone/>
            </a:pPr>
            <a:r>
              <a:rPr lang="en-US" sz="1100" b="1" kern="0" spc="100" dirty="0">
                <a:solidFill>
                  <a:srgbClr val="D9F2E2"/>
                </a:solidFill>
                <a:latin typeface="Arial" pitchFamily="34" charset="0"/>
                <a:ea typeface="Arial" pitchFamily="34" charset="-122"/>
                <a:cs typeface="Arial" pitchFamily="34" charset="-120"/>
              </a:rPr>
              <a:t>BRAND PROMISE</a:t>
            </a:r>
            <a:endParaRPr lang="en-US" sz="1100" dirty="0"/>
          </a:p>
        </p:txBody>
      </p:sp>
      <p:sp>
        <p:nvSpPr>
          <p:cNvPr id="6" name="Text 4"/>
          <p:cNvSpPr/>
          <p:nvPr/>
        </p:nvSpPr>
        <p:spPr>
          <a:xfrm>
            <a:off x="868680" y="1965960"/>
            <a:ext cx="10424160" cy="822960"/>
          </a:xfrm>
          <a:prstGeom prst="rect">
            <a:avLst/>
          </a:prstGeom>
          <a:noFill/>
          <a:ln/>
        </p:spPr>
        <p:txBody>
          <a:bodyPr wrap="square" rtlCol="0" anchor="t"/>
          <a:lstStyle/>
          <a:p>
            <a:pPr marL="0" indent="0">
              <a:buNone/>
            </a:pPr>
            <a:r>
              <a:rPr lang="en-US" sz="1900" b="1" dirty="0">
                <a:solidFill>
                  <a:srgbClr val="FFFFFF"/>
                </a:solidFill>
                <a:latin typeface="Arial" pitchFamily="34" charset="0"/>
                <a:ea typeface="Arial" pitchFamily="34" charset="-122"/>
                <a:cs typeface="Arial" pitchFamily="34" charset="-120"/>
              </a:rPr>
              <a:t>Affordable, reliable internet that empowers Khayelitsha families and businesses.</a:t>
            </a:r>
            <a:endParaRPr lang="en-US" sz="1900" dirty="0"/>
          </a:p>
        </p:txBody>
      </p:sp>
      <p:sp>
        <p:nvSpPr>
          <p:cNvPr id="7" name="Shape 5"/>
          <p:cNvSpPr/>
          <p:nvPr/>
        </p:nvSpPr>
        <p:spPr>
          <a:xfrm>
            <a:off x="548640" y="3200400"/>
            <a:ext cx="11064240" cy="2286000"/>
          </a:xfrm>
          <a:prstGeom prst="roundRect">
            <a:avLst>
              <a:gd name="adj" fmla="val 4000"/>
            </a:avLst>
          </a:prstGeom>
          <a:solidFill>
            <a:srgbClr val="FFFFFF"/>
          </a:solidFill>
          <a:ln w="12700">
            <a:solidFill>
              <a:srgbClr val="E2E8F0"/>
            </a:solidFill>
            <a:prstDash val="solid"/>
          </a:ln>
          <a:effectLst>
            <a:outerShdw blurRad="101600" dist="38100" dir="5400000" algn="bl" rotWithShape="0">
              <a:srgbClr val="1A2A3A">
                <a:alpha val="12000"/>
              </a:srgbClr>
            </a:outerShdw>
          </a:effectLst>
        </p:spPr>
        <p:txBody>
          <a:bodyPr/>
          <a:lstStyle/>
          <a:p>
            <a:endParaRPr lang="en-ZA"/>
          </a:p>
        </p:txBody>
      </p:sp>
      <p:sp>
        <p:nvSpPr>
          <p:cNvPr id="8" name="Text 6"/>
          <p:cNvSpPr/>
          <p:nvPr/>
        </p:nvSpPr>
        <p:spPr>
          <a:xfrm>
            <a:off x="868680" y="3401568"/>
            <a:ext cx="5486400" cy="274320"/>
          </a:xfrm>
          <a:prstGeom prst="rect">
            <a:avLst/>
          </a:prstGeom>
          <a:noFill/>
          <a:ln/>
        </p:spPr>
        <p:txBody>
          <a:bodyPr wrap="square" rtlCol="0" anchor="ctr"/>
          <a:lstStyle/>
          <a:p>
            <a:pPr marL="0" indent="0">
              <a:buNone/>
            </a:pPr>
            <a:r>
              <a:rPr lang="en-US" sz="1100" b="1" kern="0" spc="100" dirty="0">
                <a:solidFill>
                  <a:srgbClr val="F5B342"/>
                </a:solidFill>
                <a:latin typeface="Arial" pitchFamily="34" charset="0"/>
                <a:ea typeface="Arial" pitchFamily="34" charset="-122"/>
                <a:cs typeface="Arial" pitchFamily="34" charset="-120"/>
              </a:rPr>
              <a:t>POSITIONING STATEMENT</a:t>
            </a:r>
            <a:endParaRPr lang="en-US" sz="1100" dirty="0"/>
          </a:p>
        </p:txBody>
      </p:sp>
      <p:sp>
        <p:nvSpPr>
          <p:cNvPr id="9" name="Text 7"/>
          <p:cNvSpPr/>
          <p:nvPr/>
        </p:nvSpPr>
        <p:spPr>
          <a:xfrm>
            <a:off x="868680" y="3703320"/>
            <a:ext cx="10424160" cy="1691640"/>
          </a:xfrm>
          <a:prstGeom prst="rect">
            <a:avLst/>
          </a:prstGeom>
          <a:noFill/>
          <a:ln/>
        </p:spPr>
        <p:txBody>
          <a:bodyPr wrap="square" rtlCol="0" anchor="t"/>
          <a:lstStyle/>
          <a:p>
            <a:pPr marL="0" indent="0">
              <a:lnSpc>
                <a:spcPct val="125000"/>
              </a:lnSpc>
              <a:buNone/>
            </a:pPr>
            <a:r>
              <a:rPr lang="en-US" sz="1500" i="1" dirty="0">
                <a:solidFill>
                  <a:srgbClr val="1A2A3A"/>
                </a:solidFill>
                <a:latin typeface="Arial" pitchFamily="34" charset="0"/>
                <a:ea typeface="Arial" pitchFamily="34" charset="-122"/>
                <a:cs typeface="Arial" pitchFamily="34" charset="-120"/>
              </a:rPr>
              <a:t>For Khayelitsha families who are frustrated with expensive mobile data and DStv they don't use, eKhaya Connect is the community-owned WISP that provides uncapped home Wi-Fi for the price of your TV  because internet should empower, not exhaust your budget.</a:t>
            </a:r>
            <a:endParaRPr lang="en-US" sz="1500" dirty="0"/>
          </a:p>
        </p:txBody>
      </p:sp>
      <p:sp>
        <p:nvSpPr>
          <p:cNvPr id="10" name="Text 8"/>
          <p:cNvSpPr/>
          <p:nvPr/>
        </p:nvSpPr>
        <p:spPr>
          <a:xfrm>
            <a:off x="548640" y="5669280"/>
            <a:ext cx="2743200" cy="274320"/>
          </a:xfrm>
          <a:prstGeom prst="rect">
            <a:avLst/>
          </a:prstGeom>
          <a:noFill/>
          <a:ln/>
        </p:spPr>
        <p:txBody>
          <a:bodyPr wrap="square" rtlCol="0" anchor="ctr"/>
          <a:lstStyle/>
          <a:p>
            <a:pPr marL="0" indent="0">
              <a:buNone/>
            </a:pPr>
            <a:r>
              <a:rPr lang="en-US" sz="1100" b="1" dirty="0">
                <a:solidFill>
                  <a:srgbClr val="0B8C3F"/>
                </a:solidFill>
                <a:latin typeface="Arial" pitchFamily="34" charset="0"/>
                <a:ea typeface="Arial" pitchFamily="34" charset="-122"/>
                <a:cs typeface="Arial" pitchFamily="34" charset="-120"/>
              </a:rPr>
              <a:t>Elevator Pitch</a:t>
            </a:r>
            <a:endParaRPr lang="en-US" sz="1100" dirty="0"/>
          </a:p>
        </p:txBody>
      </p:sp>
      <p:sp>
        <p:nvSpPr>
          <p:cNvPr id="11" name="Text 9"/>
          <p:cNvSpPr/>
          <p:nvPr/>
        </p:nvSpPr>
        <p:spPr>
          <a:xfrm>
            <a:off x="548640" y="5943600"/>
            <a:ext cx="10972800" cy="457200"/>
          </a:xfrm>
          <a:prstGeom prst="rect">
            <a:avLst/>
          </a:prstGeom>
          <a:noFill/>
          <a:ln/>
        </p:spPr>
        <p:txBody>
          <a:bodyPr wrap="square" rtlCol="0" anchor="ctr"/>
          <a:lstStyle/>
          <a:p>
            <a:pPr marL="0" indent="0">
              <a:buNone/>
            </a:pPr>
            <a:r>
              <a:rPr lang="en-US" sz="1300" i="1" dirty="0">
                <a:solidFill>
                  <a:srgbClr val="6C7A8A"/>
                </a:solidFill>
                <a:latin typeface="Arial" pitchFamily="34" charset="0"/>
                <a:ea typeface="Arial" pitchFamily="34" charset="-122"/>
                <a:cs typeface="Arial" pitchFamily="34" charset="-120"/>
              </a:rPr>
              <a:t>“eKhaya Connect brings uncapped home Wi-Fi to Khayelitsha for the price of your DStv.”</a:t>
            </a:r>
            <a:endParaRPr lang="en-US" sz="1300" dirty="0"/>
          </a:p>
        </p:txBody>
      </p:sp>
      <p:sp>
        <p:nvSpPr>
          <p:cNvPr id="12" name="Shape 10"/>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13"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14" name="Text 11"/>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BRAND OVERVIEW</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Core Values</a:t>
            </a:r>
            <a:endParaRPr lang="en-US" sz="3000" dirty="0"/>
          </a:p>
        </p:txBody>
      </p:sp>
      <p:sp>
        <p:nvSpPr>
          <p:cNvPr id="4" name="Shape 2"/>
          <p:cNvSpPr/>
          <p:nvPr/>
        </p:nvSpPr>
        <p:spPr>
          <a:xfrm>
            <a:off x="548640" y="1600200"/>
            <a:ext cx="3520440" cy="3108960"/>
          </a:xfrm>
          <a:prstGeom prst="roundRect">
            <a:avLst>
              <a:gd name="adj" fmla="val 2353"/>
            </a:avLst>
          </a:prstGeom>
          <a:solidFill>
            <a:srgbClr val="FFFFFF"/>
          </a:solidFill>
          <a:ln w="12700">
            <a:solidFill>
              <a:srgbClr val="E2E8F0"/>
            </a:solidFill>
            <a:prstDash val="solid"/>
          </a:ln>
          <a:effectLst>
            <a:outerShdw blurRad="88900" dist="38100" dir="5400000" algn="bl" rotWithShape="0">
              <a:srgbClr val="1A2A3A">
                <a:alpha val="10000"/>
              </a:srgbClr>
            </a:outerShdw>
          </a:effectLst>
        </p:spPr>
        <p:txBody>
          <a:bodyPr/>
          <a:lstStyle/>
          <a:p>
            <a:endParaRPr lang="en-ZA"/>
          </a:p>
        </p:txBody>
      </p:sp>
      <p:sp>
        <p:nvSpPr>
          <p:cNvPr id="5" name="Shape 3"/>
          <p:cNvSpPr/>
          <p:nvPr/>
        </p:nvSpPr>
        <p:spPr>
          <a:xfrm>
            <a:off x="1943100" y="1965960"/>
            <a:ext cx="731520" cy="731520"/>
          </a:xfrm>
          <a:prstGeom prst="ellipse">
            <a:avLst/>
          </a:prstGeom>
          <a:solidFill>
            <a:srgbClr val="0B8C3F"/>
          </a:solidFill>
          <a:ln/>
        </p:spPr>
        <p:txBody>
          <a:bodyPr/>
          <a:lstStyle/>
          <a:p>
            <a:endParaRPr lang="en-ZA"/>
          </a:p>
        </p:txBody>
      </p:sp>
      <p:sp>
        <p:nvSpPr>
          <p:cNvPr id="6" name="Text 4"/>
          <p:cNvSpPr/>
          <p:nvPr/>
        </p:nvSpPr>
        <p:spPr>
          <a:xfrm>
            <a:off x="1943100" y="1965960"/>
            <a:ext cx="73152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7" name="Text 5"/>
          <p:cNvSpPr/>
          <p:nvPr/>
        </p:nvSpPr>
        <p:spPr>
          <a:xfrm>
            <a:off x="822960" y="2926080"/>
            <a:ext cx="2971800" cy="411480"/>
          </a:xfrm>
          <a:prstGeom prst="rect">
            <a:avLst/>
          </a:prstGeom>
          <a:noFill/>
          <a:ln/>
        </p:spPr>
        <p:txBody>
          <a:bodyPr wrap="square" rtlCol="0" anchor="ctr"/>
          <a:lstStyle/>
          <a:p>
            <a:pPr marL="0" indent="0" algn="ctr">
              <a:buNone/>
            </a:pPr>
            <a:r>
              <a:rPr lang="en-US" sz="1800" b="1" dirty="0">
                <a:solidFill>
                  <a:srgbClr val="1A2A3A"/>
                </a:solidFill>
                <a:latin typeface="Arial" pitchFamily="34" charset="0"/>
                <a:ea typeface="Arial" pitchFamily="34" charset="-122"/>
                <a:cs typeface="Arial" pitchFamily="34" charset="-120"/>
              </a:rPr>
              <a:t>Affordable</a:t>
            </a:r>
            <a:endParaRPr lang="en-US" sz="1800" dirty="0"/>
          </a:p>
        </p:txBody>
      </p:sp>
      <p:sp>
        <p:nvSpPr>
          <p:cNvPr id="8" name="Text 6"/>
          <p:cNvSpPr/>
          <p:nvPr/>
        </p:nvSpPr>
        <p:spPr>
          <a:xfrm>
            <a:off x="868680" y="3383280"/>
            <a:ext cx="2880360" cy="1188720"/>
          </a:xfrm>
          <a:prstGeom prst="rect">
            <a:avLst/>
          </a:prstGeom>
          <a:noFill/>
          <a:ln/>
        </p:spPr>
        <p:txBody>
          <a:bodyPr wrap="square" rtlCol="0" anchor="t"/>
          <a:lstStyle/>
          <a:p>
            <a:pPr marL="0" indent="0" algn="ctr">
              <a:lnSpc>
                <a:spcPct val="120000"/>
              </a:lnSpc>
              <a:buNone/>
            </a:pPr>
            <a:r>
              <a:rPr lang="en-US" sz="1250" dirty="0">
                <a:solidFill>
                  <a:srgbClr val="6C7A8A"/>
                </a:solidFill>
                <a:latin typeface="Arial" pitchFamily="34" charset="0"/>
                <a:ea typeface="Arial" pitchFamily="34" charset="-122"/>
                <a:cs typeface="Arial" pitchFamily="34" charset="-120"/>
              </a:rPr>
              <a:t>Internet should not be a luxury. We price our service to fit existing household budgets.</a:t>
            </a:r>
            <a:endParaRPr lang="en-US" sz="1250" dirty="0"/>
          </a:p>
        </p:txBody>
      </p:sp>
      <p:sp>
        <p:nvSpPr>
          <p:cNvPr id="9" name="Shape 7"/>
          <p:cNvSpPr/>
          <p:nvPr/>
        </p:nvSpPr>
        <p:spPr>
          <a:xfrm>
            <a:off x="4343400" y="1600200"/>
            <a:ext cx="3520440" cy="3108960"/>
          </a:xfrm>
          <a:prstGeom prst="roundRect">
            <a:avLst>
              <a:gd name="adj" fmla="val 2353"/>
            </a:avLst>
          </a:prstGeom>
          <a:solidFill>
            <a:srgbClr val="FFFFFF"/>
          </a:solidFill>
          <a:ln w="12700">
            <a:solidFill>
              <a:srgbClr val="E2E8F0"/>
            </a:solidFill>
            <a:prstDash val="solid"/>
          </a:ln>
          <a:effectLst>
            <a:outerShdw blurRad="88900" dist="38100" dir="5400000" algn="bl" rotWithShape="0">
              <a:srgbClr val="1A2A3A">
                <a:alpha val="10000"/>
              </a:srgbClr>
            </a:outerShdw>
          </a:effectLst>
        </p:spPr>
        <p:txBody>
          <a:bodyPr/>
          <a:lstStyle/>
          <a:p>
            <a:endParaRPr lang="en-ZA"/>
          </a:p>
        </p:txBody>
      </p:sp>
      <p:sp>
        <p:nvSpPr>
          <p:cNvPr id="10" name="Shape 8"/>
          <p:cNvSpPr/>
          <p:nvPr/>
        </p:nvSpPr>
        <p:spPr>
          <a:xfrm>
            <a:off x="5737860" y="1965960"/>
            <a:ext cx="731520" cy="731520"/>
          </a:xfrm>
          <a:prstGeom prst="ellipse">
            <a:avLst/>
          </a:prstGeom>
          <a:solidFill>
            <a:srgbClr val="002060"/>
          </a:solidFill>
          <a:ln/>
        </p:spPr>
        <p:txBody>
          <a:bodyPr/>
          <a:lstStyle/>
          <a:p>
            <a:endParaRPr lang="en-ZA" dirty="0">
              <a:highlight>
                <a:srgbClr val="000080"/>
              </a:highlight>
            </a:endParaRPr>
          </a:p>
        </p:txBody>
      </p:sp>
      <p:sp>
        <p:nvSpPr>
          <p:cNvPr id="11" name="Text 9"/>
          <p:cNvSpPr/>
          <p:nvPr/>
        </p:nvSpPr>
        <p:spPr>
          <a:xfrm>
            <a:off x="5737860" y="1965960"/>
            <a:ext cx="73152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2" name="Text 10"/>
          <p:cNvSpPr/>
          <p:nvPr/>
        </p:nvSpPr>
        <p:spPr>
          <a:xfrm>
            <a:off x="4617720" y="2926080"/>
            <a:ext cx="2971800" cy="411480"/>
          </a:xfrm>
          <a:prstGeom prst="rect">
            <a:avLst/>
          </a:prstGeom>
          <a:noFill/>
          <a:ln/>
        </p:spPr>
        <p:txBody>
          <a:bodyPr wrap="square" rtlCol="0" anchor="ctr"/>
          <a:lstStyle/>
          <a:p>
            <a:pPr marL="0" indent="0" algn="ctr">
              <a:buNone/>
            </a:pPr>
            <a:r>
              <a:rPr lang="en-US" sz="1800" b="1" dirty="0">
                <a:solidFill>
                  <a:srgbClr val="1A2A3A"/>
                </a:solidFill>
                <a:latin typeface="Arial" pitchFamily="34" charset="0"/>
                <a:ea typeface="Arial" pitchFamily="34" charset="-122"/>
                <a:cs typeface="Arial" pitchFamily="34" charset="-120"/>
              </a:rPr>
              <a:t>Reliable</a:t>
            </a:r>
            <a:endParaRPr lang="en-US" sz="1800" dirty="0"/>
          </a:p>
        </p:txBody>
      </p:sp>
      <p:sp>
        <p:nvSpPr>
          <p:cNvPr id="13" name="Text 11"/>
          <p:cNvSpPr/>
          <p:nvPr/>
        </p:nvSpPr>
        <p:spPr>
          <a:xfrm>
            <a:off x="4663440" y="3383280"/>
            <a:ext cx="2880360" cy="1188720"/>
          </a:xfrm>
          <a:prstGeom prst="rect">
            <a:avLst/>
          </a:prstGeom>
          <a:noFill/>
          <a:ln/>
        </p:spPr>
        <p:txBody>
          <a:bodyPr wrap="square" rtlCol="0" anchor="t"/>
          <a:lstStyle/>
          <a:p>
            <a:pPr marL="0" indent="0" algn="ctr">
              <a:lnSpc>
                <a:spcPct val="120000"/>
              </a:lnSpc>
              <a:buNone/>
            </a:pPr>
            <a:r>
              <a:rPr lang="en-US" sz="1250" dirty="0">
                <a:solidFill>
                  <a:srgbClr val="6C7A8A"/>
                </a:solidFill>
                <a:latin typeface="Arial" pitchFamily="34" charset="0"/>
                <a:ea typeface="Arial" pitchFamily="34" charset="-122"/>
                <a:cs typeface="Arial" pitchFamily="34" charset="-120"/>
              </a:rPr>
              <a:t>Truly uncapped. No throttling. No hidden fair-usage policies.</a:t>
            </a:r>
            <a:endParaRPr lang="en-US" sz="1250" dirty="0"/>
          </a:p>
        </p:txBody>
      </p:sp>
      <p:sp>
        <p:nvSpPr>
          <p:cNvPr id="14" name="Shape 12"/>
          <p:cNvSpPr/>
          <p:nvPr/>
        </p:nvSpPr>
        <p:spPr>
          <a:xfrm>
            <a:off x="8138160" y="1600200"/>
            <a:ext cx="3520440" cy="3108960"/>
          </a:xfrm>
          <a:prstGeom prst="roundRect">
            <a:avLst>
              <a:gd name="adj" fmla="val 2353"/>
            </a:avLst>
          </a:prstGeom>
          <a:solidFill>
            <a:srgbClr val="FFFFFF"/>
          </a:solidFill>
          <a:ln w="12700">
            <a:solidFill>
              <a:srgbClr val="E2E8F0"/>
            </a:solidFill>
            <a:prstDash val="solid"/>
          </a:ln>
          <a:effectLst>
            <a:outerShdw blurRad="88900" dist="38100" dir="5400000" algn="bl" rotWithShape="0">
              <a:srgbClr val="1A2A3A">
                <a:alpha val="10000"/>
              </a:srgbClr>
            </a:outerShdw>
          </a:effectLst>
        </p:spPr>
        <p:txBody>
          <a:bodyPr/>
          <a:lstStyle/>
          <a:p>
            <a:endParaRPr lang="en-ZA"/>
          </a:p>
        </p:txBody>
      </p:sp>
      <p:sp>
        <p:nvSpPr>
          <p:cNvPr id="15" name="Shape 13"/>
          <p:cNvSpPr/>
          <p:nvPr/>
        </p:nvSpPr>
        <p:spPr>
          <a:xfrm>
            <a:off x="9532620" y="1965960"/>
            <a:ext cx="731520" cy="731520"/>
          </a:xfrm>
          <a:prstGeom prst="ellipse">
            <a:avLst/>
          </a:prstGeom>
          <a:solidFill>
            <a:srgbClr val="0B8C3F"/>
          </a:solidFill>
          <a:ln/>
        </p:spPr>
        <p:txBody>
          <a:bodyPr/>
          <a:lstStyle/>
          <a:p>
            <a:endParaRPr lang="en-ZA"/>
          </a:p>
        </p:txBody>
      </p:sp>
      <p:sp>
        <p:nvSpPr>
          <p:cNvPr id="16" name="Text 14"/>
          <p:cNvSpPr/>
          <p:nvPr/>
        </p:nvSpPr>
        <p:spPr>
          <a:xfrm>
            <a:off x="9532620" y="1965960"/>
            <a:ext cx="73152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7" name="Text 15"/>
          <p:cNvSpPr/>
          <p:nvPr/>
        </p:nvSpPr>
        <p:spPr>
          <a:xfrm>
            <a:off x="8412480" y="2926080"/>
            <a:ext cx="2971800" cy="411480"/>
          </a:xfrm>
          <a:prstGeom prst="rect">
            <a:avLst/>
          </a:prstGeom>
          <a:noFill/>
          <a:ln/>
        </p:spPr>
        <p:txBody>
          <a:bodyPr wrap="square" rtlCol="0" anchor="ctr"/>
          <a:lstStyle/>
          <a:p>
            <a:pPr marL="0" indent="0" algn="ctr">
              <a:buNone/>
            </a:pPr>
            <a:r>
              <a:rPr lang="en-US" sz="1800" b="1" dirty="0">
                <a:solidFill>
                  <a:srgbClr val="1A2A3A"/>
                </a:solidFill>
                <a:latin typeface="Arial" pitchFamily="34" charset="0"/>
                <a:ea typeface="Arial" pitchFamily="34" charset="-122"/>
                <a:cs typeface="Arial" pitchFamily="34" charset="-120"/>
              </a:rPr>
              <a:t>Local</a:t>
            </a:r>
            <a:endParaRPr lang="en-US" sz="1800" dirty="0"/>
          </a:p>
        </p:txBody>
      </p:sp>
      <p:sp>
        <p:nvSpPr>
          <p:cNvPr id="18" name="Text 16"/>
          <p:cNvSpPr/>
          <p:nvPr/>
        </p:nvSpPr>
        <p:spPr>
          <a:xfrm>
            <a:off x="8458200" y="3383280"/>
            <a:ext cx="2880360" cy="1188720"/>
          </a:xfrm>
          <a:prstGeom prst="rect">
            <a:avLst/>
          </a:prstGeom>
          <a:noFill/>
          <a:ln/>
        </p:spPr>
        <p:txBody>
          <a:bodyPr wrap="square" rtlCol="0" anchor="t"/>
          <a:lstStyle/>
          <a:p>
            <a:pPr marL="0" indent="0" algn="ctr">
              <a:lnSpc>
                <a:spcPct val="120000"/>
              </a:lnSpc>
              <a:buNone/>
            </a:pPr>
            <a:r>
              <a:rPr lang="en-US" sz="1250" dirty="0">
                <a:solidFill>
                  <a:srgbClr val="6C7A8A"/>
                </a:solidFill>
                <a:latin typeface="Arial" pitchFamily="34" charset="0"/>
                <a:ea typeface="Arial" pitchFamily="34" charset="-122"/>
                <a:cs typeface="Arial" pitchFamily="34" charset="-120"/>
              </a:rPr>
              <a:t>We are your neighbours, not a faceless corporation. Support in English and isiXhosa.</a:t>
            </a:r>
            <a:endParaRPr lang="en-US" sz="1250" dirty="0"/>
          </a:p>
        </p:txBody>
      </p:sp>
      <p:sp>
        <p:nvSpPr>
          <p:cNvPr id="19" name="Shape 17"/>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20"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21" name="Text 18"/>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BRAND OVERVIEW</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Brand Personality</a:t>
            </a:r>
            <a:endParaRPr lang="en-US" sz="3000" dirty="0"/>
          </a:p>
        </p:txBody>
      </p:sp>
      <p:sp>
        <p:nvSpPr>
          <p:cNvPr id="4" name="Shape 2"/>
          <p:cNvSpPr/>
          <p:nvPr/>
        </p:nvSpPr>
        <p:spPr>
          <a:xfrm>
            <a:off x="548640" y="1691640"/>
            <a:ext cx="5349240" cy="1188720"/>
          </a:xfrm>
          <a:prstGeom prst="roundRect">
            <a:avLst>
              <a:gd name="adj" fmla="val 615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5" name="Shape 3"/>
          <p:cNvSpPr/>
          <p:nvPr/>
        </p:nvSpPr>
        <p:spPr>
          <a:xfrm>
            <a:off x="822960" y="1993392"/>
            <a:ext cx="585216" cy="585216"/>
          </a:xfrm>
          <a:prstGeom prst="ellipse">
            <a:avLst/>
          </a:prstGeom>
          <a:solidFill>
            <a:srgbClr val="0B8C3F"/>
          </a:solidFill>
          <a:ln/>
        </p:spPr>
        <p:txBody>
          <a:bodyPr/>
          <a:lstStyle/>
          <a:p>
            <a:endParaRPr lang="en-ZA"/>
          </a:p>
        </p:txBody>
      </p:sp>
      <p:sp>
        <p:nvSpPr>
          <p:cNvPr id="6" name="Text 4"/>
          <p:cNvSpPr/>
          <p:nvPr/>
        </p:nvSpPr>
        <p:spPr>
          <a:xfrm>
            <a:off x="822960" y="1993392"/>
            <a:ext cx="585216" cy="585216"/>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600200" y="1856232"/>
            <a:ext cx="4069080" cy="365760"/>
          </a:xfrm>
          <a:prstGeom prst="rect">
            <a:avLst/>
          </a:prstGeom>
          <a:noFill/>
          <a:ln/>
        </p:spPr>
        <p:txBody>
          <a:bodyPr wrap="square" rtlCol="0" anchor="ctr"/>
          <a:lstStyle/>
          <a:p>
            <a:pPr marL="0" indent="0">
              <a:buNone/>
            </a:pPr>
            <a:r>
              <a:rPr lang="en-US" sz="1500" b="1" dirty="0">
                <a:solidFill>
                  <a:srgbClr val="1A2A3A"/>
                </a:solidFill>
                <a:latin typeface="Arial" pitchFamily="34" charset="0"/>
                <a:ea typeface="Arial" pitchFamily="34" charset="-122"/>
                <a:cs typeface="Arial" pitchFamily="34" charset="-120"/>
              </a:rPr>
              <a:t>Friendly &amp; Approachable</a:t>
            </a:r>
            <a:endParaRPr lang="en-US" sz="1500" dirty="0"/>
          </a:p>
        </p:txBody>
      </p:sp>
      <p:sp>
        <p:nvSpPr>
          <p:cNvPr id="8" name="Text 6"/>
          <p:cNvSpPr/>
          <p:nvPr/>
        </p:nvSpPr>
        <p:spPr>
          <a:xfrm>
            <a:off x="1600200" y="2221992"/>
            <a:ext cx="4069080" cy="54864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We speak your language .</a:t>
            </a:r>
            <a:endParaRPr lang="en-US" sz="1200" dirty="0"/>
          </a:p>
        </p:txBody>
      </p:sp>
      <p:sp>
        <p:nvSpPr>
          <p:cNvPr id="9" name="Shape 7"/>
          <p:cNvSpPr/>
          <p:nvPr/>
        </p:nvSpPr>
        <p:spPr>
          <a:xfrm>
            <a:off x="6263640" y="1691640"/>
            <a:ext cx="5349240" cy="1188720"/>
          </a:xfrm>
          <a:prstGeom prst="roundRect">
            <a:avLst>
              <a:gd name="adj" fmla="val 615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10" name="Shape 8"/>
          <p:cNvSpPr/>
          <p:nvPr/>
        </p:nvSpPr>
        <p:spPr>
          <a:xfrm>
            <a:off x="6537960" y="1993392"/>
            <a:ext cx="585216" cy="585216"/>
          </a:xfrm>
          <a:prstGeom prst="ellipse">
            <a:avLst/>
          </a:prstGeom>
          <a:solidFill>
            <a:srgbClr val="0B8C3F"/>
          </a:solidFill>
          <a:ln/>
        </p:spPr>
        <p:txBody>
          <a:bodyPr/>
          <a:lstStyle/>
          <a:p>
            <a:endParaRPr lang="en-ZA"/>
          </a:p>
        </p:txBody>
      </p:sp>
      <p:sp>
        <p:nvSpPr>
          <p:cNvPr id="11" name="Text 9"/>
          <p:cNvSpPr/>
          <p:nvPr/>
        </p:nvSpPr>
        <p:spPr>
          <a:xfrm>
            <a:off x="6537960" y="1993392"/>
            <a:ext cx="585216" cy="585216"/>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7315200" y="1856232"/>
            <a:ext cx="4069080" cy="365760"/>
          </a:xfrm>
          <a:prstGeom prst="rect">
            <a:avLst/>
          </a:prstGeom>
          <a:noFill/>
          <a:ln/>
        </p:spPr>
        <p:txBody>
          <a:bodyPr wrap="square" rtlCol="0" anchor="ctr"/>
          <a:lstStyle/>
          <a:p>
            <a:pPr marL="0" indent="0">
              <a:buNone/>
            </a:pPr>
            <a:r>
              <a:rPr lang="en-US" sz="1500" b="1" dirty="0">
                <a:solidFill>
                  <a:srgbClr val="1A2A3A"/>
                </a:solidFill>
                <a:latin typeface="Arial" pitchFamily="34" charset="0"/>
                <a:ea typeface="Arial" pitchFamily="34" charset="-122"/>
                <a:cs typeface="Arial" pitchFamily="34" charset="-120"/>
              </a:rPr>
              <a:t>Trustworthy</a:t>
            </a:r>
            <a:endParaRPr lang="en-US" sz="1500" dirty="0"/>
          </a:p>
        </p:txBody>
      </p:sp>
      <p:sp>
        <p:nvSpPr>
          <p:cNvPr id="13" name="Text 11"/>
          <p:cNvSpPr/>
          <p:nvPr/>
        </p:nvSpPr>
        <p:spPr>
          <a:xfrm>
            <a:off x="7315200" y="2221992"/>
            <a:ext cx="4069080" cy="54864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Transparent pricing, no hidden fees.</a:t>
            </a:r>
            <a:endParaRPr lang="en-US" sz="1200" dirty="0"/>
          </a:p>
        </p:txBody>
      </p:sp>
      <p:sp>
        <p:nvSpPr>
          <p:cNvPr id="14" name="Shape 12"/>
          <p:cNvSpPr/>
          <p:nvPr/>
        </p:nvSpPr>
        <p:spPr>
          <a:xfrm>
            <a:off x="548640" y="3200400"/>
            <a:ext cx="5349240" cy="1188720"/>
          </a:xfrm>
          <a:prstGeom prst="roundRect">
            <a:avLst>
              <a:gd name="adj" fmla="val 615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15" name="Shape 13"/>
          <p:cNvSpPr/>
          <p:nvPr/>
        </p:nvSpPr>
        <p:spPr>
          <a:xfrm>
            <a:off x="822960" y="3502152"/>
            <a:ext cx="585216" cy="585216"/>
          </a:xfrm>
          <a:prstGeom prst="ellipse">
            <a:avLst/>
          </a:prstGeom>
          <a:solidFill>
            <a:srgbClr val="0B8C3F"/>
          </a:solidFill>
          <a:ln/>
        </p:spPr>
        <p:txBody>
          <a:bodyPr/>
          <a:lstStyle/>
          <a:p>
            <a:endParaRPr lang="en-ZA"/>
          </a:p>
        </p:txBody>
      </p:sp>
      <p:sp>
        <p:nvSpPr>
          <p:cNvPr id="16" name="Text 14"/>
          <p:cNvSpPr/>
          <p:nvPr/>
        </p:nvSpPr>
        <p:spPr>
          <a:xfrm>
            <a:off x="822960" y="3502152"/>
            <a:ext cx="585216" cy="585216"/>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600200" y="3364992"/>
            <a:ext cx="4069080" cy="365760"/>
          </a:xfrm>
          <a:prstGeom prst="rect">
            <a:avLst/>
          </a:prstGeom>
          <a:noFill/>
          <a:ln/>
        </p:spPr>
        <p:txBody>
          <a:bodyPr wrap="square" rtlCol="0" anchor="ctr"/>
          <a:lstStyle/>
          <a:p>
            <a:pPr marL="0" indent="0">
              <a:buNone/>
            </a:pPr>
            <a:r>
              <a:rPr lang="en-US" sz="1500" b="1" dirty="0">
                <a:solidFill>
                  <a:srgbClr val="1A2A3A"/>
                </a:solidFill>
                <a:latin typeface="Arial" pitchFamily="34" charset="0"/>
                <a:ea typeface="Arial" pitchFamily="34" charset="-122"/>
                <a:cs typeface="Arial" pitchFamily="34" charset="-120"/>
              </a:rPr>
              <a:t>Community-Driven</a:t>
            </a:r>
            <a:endParaRPr lang="en-US" sz="1500" dirty="0"/>
          </a:p>
        </p:txBody>
      </p:sp>
      <p:sp>
        <p:nvSpPr>
          <p:cNvPr id="18" name="Text 16"/>
          <p:cNvSpPr/>
          <p:nvPr/>
        </p:nvSpPr>
        <p:spPr>
          <a:xfrm>
            <a:off x="1600200" y="3730752"/>
            <a:ext cx="4069080" cy="54864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We invest profits back into Khayelitsha.</a:t>
            </a:r>
            <a:endParaRPr lang="en-US" sz="1200" dirty="0"/>
          </a:p>
        </p:txBody>
      </p:sp>
      <p:sp>
        <p:nvSpPr>
          <p:cNvPr id="19" name="Shape 17"/>
          <p:cNvSpPr/>
          <p:nvPr/>
        </p:nvSpPr>
        <p:spPr>
          <a:xfrm>
            <a:off x="6263640" y="3200400"/>
            <a:ext cx="5349240" cy="1188720"/>
          </a:xfrm>
          <a:prstGeom prst="roundRect">
            <a:avLst>
              <a:gd name="adj" fmla="val 615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20" name="Shape 18"/>
          <p:cNvSpPr/>
          <p:nvPr/>
        </p:nvSpPr>
        <p:spPr>
          <a:xfrm>
            <a:off x="6537960" y="3502152"/>
            <a:ext cx="585216" cy="585216"/>
          </a:xfrm>
          <a:prstGeom prst="ellipse">
            <a:avLst/>
          </a:prstGeom>
          <a:solidFill>
            <a:srgbClr val="0B8C3F"/>
          </a:solidFill>
          <a:ln/>
        </p:spPr>
        <p:txBody>
          <a:bodyPr/>
          <a:lstStyle/>
          <a:p>
            <a:endParaRPr lang="en-ZA"/>
          </a:p>
        </p:txBody>
      </p:sp>
      <p:sp>
        <p:nvSpPr>
          <p:cNvPr id="21" name="Text 19"/>
          <p:cNvSpPr/>
          <p:nvPr/>
        </p:nvSpPr>
        <p:spPr>
          <a:xfrm>
            <a:off x="6537960" y="3502152"/>
            <a:ext cx="585216" cy="585216"/>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7315200" y="3364992"/>
            <a:ext cx="4069080" cy="365760"/>
          </a:xfrm>
          <a:prstGeom prst="rect">
            <a:avLst/>
          </a:prstGeom>
          <a:noFill/>
          <a:ln/>
        </p:spPr>
        <p:txBody>
          <a:bodyPr wrap="square" rtlCol="0" anchor="ctr"/>
          <a:lstStyle/>
          <a:p>
            <a:pPr marL="0" indent="0">
              <a:buNone/>
            </a:pPr>
            <a:r>
              <a:rPr lang="en-US" sz="1500" b="1" dirty="0">
                <a:solidFill>
                  <a:srgbClr val="1A2A3A"/>
                </a:solidFill>
                <a:latin typeface="Arial" pitchFamily="34" charset="0"/>
                <a:ea typeface="Arial" pitchFamily="34" charset="-122"/>
                <a:cs typeface="Arial" pitchFamily="34" charset="-120"/>
              </a:rPr>
              <a:t>Empowering</a:t>
            </a:r>
            <a:endParaRPr lang="en-US" sz="1500" dirty="0"/>
          </a:p>
        </p:txBody>
      </p:sp>
      <p:sp>
        <p:nvSpPr>
          <p:cNvPr id="23" name="Text 21"/>
          <p:cNvSpPr/>
          <p:nvPr/>
        </p:nvSpPr>
        <p:spPr>
          <a:xfrm>
            <a:off x="7315200" y="3730752"/>
            <a:ext cx="4069080" cy="54864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We help families connect, learn, and grow.</a:t>
            </a:r>
            <a:endParaRPr lang="en-US" sz="1200" dirty="0"/>
          </a:p>
        </p:txBody>
      </p:sp>
      <p:sp>
        <p:nvSpPr>
          <p:cNvPr id="24" name="Shape 22"/>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25"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26" name="Text 23"/>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LOGO</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Logo &amp; Usage</a:t>
            </a:r>
            <a:endParaRPr lang="en-US" sz="3000" dirty="0"/>
          </a:p>
        </p:txBody>
      </p:sp>
      <p:sp>
        <p:nvSpPr>
          <p:cNvPr id="4" name="Shape 2"/>
          <p:cNvSpPr/>
          <p:nvPr/>
        </p:nvSpPr>
        <p:spPr>
          <a:xfrm>
            <a:off x="548640" y="1554480"/>
            <a:ext cx="5212080" cy="1554480"/>
          </a:xfrm>
          <a:prstGeom prst="roundRect">
            <a:avLst>
              <a:gd name="adj" fmla="val 4706"/>
            </a:avLst>
          </a:prstGeom>
          <a:solidFill>
            <a:srgbClr val="FFFFFF"/>
          </a:solidFill>
          <a:ln w="12700">
            <a:solidFill>
              <a:srgbClr val="E2E8F0"/>
            </a:solidFill>
            <a:prstDash val="solid"/>
          </a:ln>
          <a:effectLst>
            <a:outerShdw blurRad="76200" dist="25400" dir="5400000" algn="bl" rotWithShape="0">
              <a:srgbClr val="1A2A3A">
                <a:alpha val="10000"/>
              </a:srgbClr>
            </a:outerShdw>
          </a:effectLst>
        </p:spPr>
        <p:txBody>
          <a:bodyPr/>
          <a:lstStyle/>
          <a:p>
            <a:endParaRPr lang="en-ZA"/>
          </a:p>
        </p:txBody>
      </p:sp>
      <p:pic>
        <p:nvPicPr>
          <p:cNvPr id="5" name="Image 0" descr="/home/claude/ekhaya/logo_icon_square.png"/>
          <p:cNvPicPr>
            <a:picLocks noChangeAspect="1"/>
          </p:cNvPicPr>
          <p:nvPr/>
        </p:nvPicPr>
        <p:blipFill>
          <a:blip r:embed="rId3"/>
          <a:stretch>
            <a:fillRect/>
          </a:stretch>
        </p:blipFill>
        <p:spPr>
          <a:xfrm>
            <a:off x="938632" y="1944472"/>
            <a:ext cx="637337" cy="637337"/>
          </a:xfrm>
          <a:prstGeom prst="rect">
            <a:avLst/>
          </a:prstGeom>
        </p:spPr>
      </p:pic>
      <p:sp>
        <p:nvSpPr>
          <p:cNvPr id="6" name="Text 3"/>
          <p:cNvSpPr/>
          <p:nvPr/>
        </p:nvSpPr>
        <p:spPr>
          <a:xfrm>
            <a:off x="1828800" y="1847088"/>
            <a:ext cx="3749040" cy="457200"/>
          </a:xfrm>
          <a:prstGeom prst="rect">
            <a:avLst/>
          </a:prstGeom>
          <a:noFill/>
          <a:ln/>
        </p:spPr>
        <p:txBody>
          <a:bodyPr wrap="square" rtlCol="0" anchor="ctr"/>
          <a:lstStyle/>
          <a:p>
            <a:pPr marL="0" indent="0">
              <a:buNone/>
            </a:pPr>
            <a:r>
              <a:rPr lang="en-US" sz="1800" b="1" dirty="0">
                <a:solidFill>
                  <a:srgbClr val="1A2A3A"/>
                </a:solidFill>
                <a:latin typeface="Arial" pitchFamily="34" charset="0"/>
                <a:ea typeface="Arial" pitchFamily="34" charset="-122"/>
                <a:cs typeface="Arial" pitchFamily="34" charset="-120"/>
              </a:rPr>
              <a:t>eKhaya Connect</a:t>
            </a:r>
            <a:endParaRPr lang="en-US" sz="1800" dirty="0"/>
          </a:p>
        </p:txBody>
      </p:sp>
      <p:sp>
        <p:nvSpPr>
          <p:cNvPr id="7" name="Text 4"/>
          <p:cNvSpPr/>
          <p:nvPr/>
        </p:nvSpPr>
        <p:spPr>
          <a:xfrm>
            <a:off x="1828800" y="2331720"/>
            <a:ext cx="3749040" cy="457200"/>
          </a:xfrm>
          <a:prstGeom prst="rect">
            <a:avLst/>
          </a:prstGeom>
          <a:noFill/>
          <a:ln/>
        </p:spPr>
        <p:txBody>
          <a:bodyPr wrap="square" rtlCol="0" anchor="ctr"/>
          <a:lstStyle/>
          <a:p>
            <a:pPr marL="0" indent="0">
              <a:buNone/>
            </a:pPr>
            <a:r>
              <a:rPr lang="en-US" sz="950" i="1" dirty="0">
                <a:solidFill>
                  <a:srgbClr val="6C7A8A"/>
                </a:solidFill>
                <a:latin typeface="Arial" pitchFamily="34" charset="0"/>
                <a:ea typeface="Arial" pitchFamily="34" charset="-122"/>
                <a:cs typeface="Arial" pitchFamily="34" charset="-120"/>
              </a:rPr>
              <a:t>Connecting Homes · Empowering Communities</a:t>
            </a:r>
            <a:endParaRPr lang="en-US" sz="950" dirty="0"/>
          </a:p>
        </p:txBody>
      </p:sp>
      <p:sp>
        <p:nvSpPr>
          <p:cNvPr id="8" name="Text 5"/>
          <p:cNvSpPr/>
          <p:nvPr/>
        </p:nvSpPr>
        <p:spPr>
          <a:xfrm>
            <a:off x="548640" y="3246120"/>
            <a:ext cx="5212080" cy="457200"/>
          </a:xfrm>
          <a:prstGeom prst="rect">
            <a:avLst/>
          </a:prstGeom>
          <a:noFill/>
          <a:ln/>
        </p:spPr>
        <p:txBody>
          <a:bodyPr wrap="square" rtlCol="0" anchor="ctr"/>
          <a:lstStyle/>
          <a:p>
            <a:pPr marL="0" indent="0">
              <a:buNone/>
            </a:pPr>
            <a:r>
              <a:rPr lang="en-US" sz="1050" i="1" dirty="0">
                <a:solidFill>
                  <a:srgbClr val="6C7A8A"/>
                </a:solidFill>
                <a:latin typeface="Arial" pitchFamily="34" charset="0"/>
                <a:ea typeface="Arial" pitchFamily="34" charset="-122"/>
                <a:cs typeface="Arial" pitchFamily="34" charset="-120"/>
              </a:rPr>
              <a:t>Minimum size: 32px height (digital)  ·  Clear space: half the logo height on all sides</a:t>
            </a:r>
            <a:endParaRPr lang="en-US" sz="1050" dirty="0"/>
          </a:p>
        </p:txBody>
      </p:sp>
      <p:graphicFrame>
        <p:nvGraphicFramePr>
          <p:cNvPr id="9" name="Table 0"/>
          <p:cNvGraphicFramePr>
            <a:graphicFrameLocks noGrp="1"/>
          </p:cNvGraphicFramePr>
          <p:nvPr/>
        </p:nvGraphicFramePr>
        <p:xfrm>
          <a:off x="6080760" y="1554480"/>
          <a:ext cx="5532120" cy="2286000"/>
        </p:xfrm>
        <a:graphic>
          <a:graphicData uri="http://schemas.openxmlformats.org/drawingml/2006/table">
            <a:tbl>
              <a:tblPr/>
              <a:tblGrid>
                <a:gridCol w="17373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457200">
                <a:tc>
                  <a:txBody>
                    <a:bodyPr/>
                    <a:lstStyle/>
                    <a:p>
                      <a:pPr marL="0" indent="0">
                        <a:buNone/>
                      </a:pPr>
                      <a:r>
                        <a:rPr lang="en-US" sz="1150" b="1" dirty="0">
                          <a:solidFill>
                            <a:srgbClr val="FFFFFF"/>
                          </a:solidFill>
                          <a:latin typeface="Arial" pitchFamily="34" charset="0"/>
                          <a:ea typeface="Arial" pitchFamily="34" charset="-122"/>
                          <a:cs typeface="Arial" pitchFamily="34" charset="-120"/>
                        </a:rPr>
                        <a:t>Variation</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When to Use</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extLst>
                  <a:ext uri="{0D108BD9-81ED-4DB2-BD59-A6C34878D82A}">
                    <a16:rowId xmlns:a16="http://schemas.microsoft.com/office/drawing/2014/main" val="10000"/>
                  </a:ext>
                </a:extLst>
              </a:tr>
              <a:tr h="457200">
                <a:tc>
                  <a:txBody>
                    <a:bodyPr/>
                    <a:lstStyle/>
                    <a:p>
                      <a:pPr marL="0" indent="0">
                        <a:buNone/>
                      </a:pPr>
                      <a:r>
                        <a:rPr lang="en-US" sz="1150" dirty="0">
                          <a:solidFill>
                            <a:srgbClr val="1A2A3A"/>
                          </a:solidFill>
                          <a:latin typeface="Arial" pitchFamily="34" charset="0"/>
                          <a:ea typeface="Arial" pitchFamily="34" charset="-122"/>
                          <a:cs typeface="Arial" pitchFamily="34" charset="-120"/>
                        </a:rPr>
                        <a:t>Full Colour</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Primary logo for most applications</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50" dirty="0">
                          <a:solidFill>
                            <a:srgbClr val="1A2A3A"/>
                          </a:solidFill>
                          <a:latin typeface="Arial" pitchFamily="34" charset="0"/>
                          <a:ea typeface="Arial" pitchFamily="34" charset="-122"/>
                          <a:cs typeface="Arial" pitchFamily="34" charset="-120"/>
                        </a:rPr>
                        <a:t>All White</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On dark backgrounds (footer, dark hero sections)</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50" dirty="0">
                          <a:solidFill>
                            <a:srgbClr val="1A2A3A"/>
                          </a:solidFill>
                          <a:latin typeface="Arial" pitchFamily="34" charset="0"/>
                          <a:ea typeface="Arial" pitchFamily="34" charset="-122"/>
                          <a:cs typeface="Arial" pitchFamily="34" charset="-120"/>
                        </a:rPr>
                        <a:t>Icon Only</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Favicon, app icon, profile pictures, small spaces</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50" dirty="0">
                          <a:solidFill>
                            <a:srgbClr val="1A2A3A"/>
                          </a:solidFill>
                          <a:latin typeface="Arial" pitchFamily="34" charset="0"/>
                          <a:ea typeface="Arial" pitchFamily="34" charset="-122"/>
                          <a:cs typeface="Arial" pitchFamily="34" charset="-120"/>
                        </a:rPr>
                        <a:t>Horizontal</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Standard layout for headers and print</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6"/>
          <p:cNvSpPr/>
          <p:nvPr/>
        </p:nvSpPr>
        <p:spPr>
          <a:xfrm>
            <a:off x="548640" y="4160520"/>
            <a:ext cx="4572000" cy="320040"/>
          </a:xfrm>
          <a:prstGeom prst="rect">
            <a:avLst/>
          </a:prstGeom>
          <a:noFill/>
          <a:ln/>
        </p:spPr>
        <p:txBody>
          <a:bodyPr wrap="square" rtlCol="0" anchor="ctr"/>
          <a:lstStyle/>
          <a:p>
            <a:pPr marL="0" indent="0">
              <a:buNone/>
            </a:pPr>
            <a:r>
              <a:rPr lang="en-US" sz="1400" b="1" dirty="0">
                <a:solidFill>
                  <a:srgbClr val="1A2A3A"/>
                </a:solidFill>
                <a:latin typeface="Arial" pitchFamily="34" charset="0"/>
                <a:ea typeface="Arial" pitchFamily="34" charset="-122"/>
                <a:cs typeface="Arial" pitchFamily="34" charset="-120"/>
              </a:rPr>
              <a:t>What NOT to Do</a:t>
            </a:r>
            <a:endParaRPr lang="en-US" sz="1400" dirty="0"/>
          </a:p>
        </p:txBody>
      </p:sp>
      <p:sp>
        <p:nvSpPr>
          <p:cNvPr id="11" name="Shape 7"/>
          <p:cNvSpPr/>
          <p:nvPr/>
        </p:nvSpPr>
        <p:spPr>
          <a:xfrm>
            <a:off x="548640" y="4599432"/>
            <a:ext cx="219456" cy="219456"/>
          </a:xfrm>
          <a:prstGeom prst="ellipse">
            <a:avLst/>
          </a:prstGeom>
          <a:solidFill>
            <a:srgbClr val="FDECEC"/>
          </a:solidFill>
          <a:ln/>
        </p:spPr>
        <p:txBody>
          <a:bodyPr/>
          <a:lstStyle/>
          <a:p>
            <a:endParaRPr lang="en-ZA"/>
          </a:p>
        </p:txBody>
      </p:sp>
      <p:sp>
        <p:nvSpPr>
          <p:cNvPr id="12" name="Text 8"/>
          <p:cNvSpPr/>
          <p:nvPr/>
        </p:nvSpPr>
        <p:spPr>
          <a:xfrm>
            <a:off x="548640" y="4581144"/>
            <a:ext cx="219456" cy="219456"/>
          </a:xfrm>
          <a:prstGeom prst="rect">
            <a:avLst/>
          </a:prstGeom>
          <a:noFill/>
          <a:ln/>
        </p:spPr>
        <p:txBody>
          <a:bodyPr wrap="square"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13" name="Text 9"/>
          <p:cNvSpPr/>
          <p:nvPr/>
        </p:nvSpPr>
        <p:spPr>
          <a:xfrm>
            <a:off x="859536" y="4572000"/>
            <a:ext cx="5038344" cy="438912"/>
          </a:xfrm>
          <a:prstGeom prst="rect">
            <a:avLst/>
          </a:prstGeom>
          <a:noFill/>
          <a:ln/>
        </p:spPr>
        <p:txBody>
          <a:bodyPr wrap="square" rtlCol="0" anchor="ctr"/>
          <a:lstStyle/>
          <a:p>
            <a:pPr marL="0" indent="0">
              <a:buNone/>
            </a:pPr>
            <a:r>
              <a:rPr lang="en-US" sz="1150" dirty="0">
                <a:solidFill>
                  <a:srgbClr val="1A2A3A"/>
                </a:solidFill>
                <a:latin typeface="Arial" pitchFamily="34" charset="0"/>
                <a:ea typeface="Arial" pitchFamily="34" charset="-122"/>
                <a:cs typeface="Arial" pitchFamily="34" charset="-120"/>
              </a:rPr>
              <a:t>Stretch or distort the logo</a:t>
            </a:r>
            <a:endParaRPr lang="en-US" sz="1150" dirty="0"/>
          </a:p>
        </p:txBody>
      </p:sp>
      <p:sp>
        <p:nvSpPr>
          <p:cNvPr id="14" name="Shape 10"/>
          <p:cNvSpPr/>
          <p:nvPr/>
        </p:nvSpPr>
        <p:spPr>
          <a:xfrm>
            <a:off x="6263640" y="4599432"/>
            <a:ext cx="219456" cy="219456"/>
          </a:xfrm>
          <a:prstGeom prst="ellipse">
            <a:avLst/>
          </a:prstGeom>
          <a:solidFill>
            <a:srgbClr val="FDECEC"/>
          </a:solidFill>
          <a:ln/>
        </p:spPr>
        <p:txBody>
          <a:bodyPr/>
          <a:lstStyle/>
          <a:p>
            <a:endParaRPr lang="en-ZA"/>
          </a:p>
        </p:txBody>
      </p:sp>
      <p:sp>
        <p:nvSpPr>
          <p:cNvPr id="15" name="Text 11"/>
          <p:cNvSpPr/>
          <p:nvPr/>
        </p:nvSpPr>
        <p:spPr>
          <a:xfrm>
            <a:off x="6263640" y="4581144"/>
            <a:ext cx="219456" cy="219456"/>
          </a:xfrm>
          <a:prstGeom prst="rect">
            <a:avLst/>
          </a:prstGeom>
          <a:noFill/>
          <a:ln/>
        </p:spPr>
        <p:txBody>
          <a:bodyPr wrap="square"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16" name="Text 12"/>
          <p:cNvSpPr/>
          <p:nvPr/>
        </p:nvSpPr>
        <p:spPr>
          <a:xfrm>
            <a:off x="6574536" y="4572000"/>
            <a:ext cx="5038344" cy="438912"/>
          </a:xfrm>
          <a:prstGeom prst="rect">
            <a:avLst/>
          </a:prstGeom>
          <a:noFill/>
          <a:ln/>
        </p:spPr>
        <p:txBody>
          <a:bodyPr wrap="square" rtlCol="0" anchor="ctr"/>
          <a:lstStyle/>
          <a:p>
            <a:pPr marL="0" indent="0">
              <a:buNone/>
            </a:pPr>
            <a:r>
              <a:rPr lang="en-US" sz="1150" dirty="0">
                <a:solidFill>
                  <a:srgbClr val="1A2A3A"/>
                </a:solidFill>
                <a:latin typeface="Arial" pitchFamily="34" charset="0"/>
                <a:ea typeface="Arial" pitchFamily="34" charset="-122"/>
                <a:cs typeface="Arial" pitchFamily="34" charset="-120"/>
              </a:rPr>
              <a:t>Change the colours</a:t>
            </a:r>
            <a:endParaRPr lang="en-US" sz="1150" dirty="0"/>
          </a:p>
        </p:txBody>
      </p:sp>
      <p:sp>
        <p:nvSpPr>
          <p:cNvPr id="17" name="Shape 13"/>
          <p:cNvSpPr/>
          <p:nvPr/>
        </p:nvSpPr>
        <p:spPr>
          <a:xfrm>
            <a:off x="548640" y="5074920"/>
            <a:ext cx="219456" cy="219456"/>
          </a:xfrm>
          <a:prstGeom prst="ellipse">
            <a:avLst/>
          </a:prstGeom>
          <a:solidFill>
            <a:srgbClr val="FDECEC"/>
          </a:solidFill>
          <a:ln/>
        </p:spPr>
        <p:txBody>
          <a:bodyPr/>
          <a:lstStyle/>
          <a:p>
            <a:endParaRPr lang="en-ZA"/>
          </a:p>
        </p:txBody>
      </p:sp>
      <p:sp>
        <p:nvSpPr>
          <p:cNvPr id="18" name="Text 14"/>
          <p:cNvSpPr/>
          <p:nvPr/>
        </p:nvSpPr>
        <p:spPr>
          <a:xfrm>
            <a:off x="548640" y="5056632"/>
            <a:ext cx="219456" cy="219456"/>
          </a:xfrm>
          <a:prstGeom prst="rect">
            <a:avLst/>
          </a:prstGeom>
          <a:noFill/>
          <a:ln/>
        </p:spPr>
        <p:txBody>
          <a:bodyPr wrap="square"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19" name="Text 15"/>
          <p:cNvSpPr/>
          <p:nvPr/>
        </p:nvSpPr>
        <p:spPr>
          <a:xfrm>
            <a:off x="859536" y="5047488"/>
            <a:ext cx="5038344" cy="438912"/>
          </a:xfrm>
          <a:prstGeom prst="rect">
            <a:avLst/>
          </a:prstGeom>
          <a:noFill/>
          <a:ln/>
        </p:spPr>
        <p:txBody>
          <a:bodyPr wrap="square" rtlCol="0" anchor="ctr"/>
          <a:lstStyle/>
          <a:p>
            <a:pPr marL="0" indent="0">
              <a:buNone/>
            </a:pPr>
            <a:r>
              <a:rPr lang="en-US" sz="1150" dirty="0">
                <a:solidFill>
                  <a:srgbClr val="1A2A3A"/>
                </a:solidFill>
                <a:latin typeface="Arial" pitchFamily="34" charset="0"/>
                <a:ea typeface="Arial" pitchFamily="34" charset="-122"/>
                <a:cs typeface="Arial" pitchFamily="34" charset="-120"/>
              </a:rPr>
              <a:t>Rotate the logo</a:t>
            </a:r>
            <a:endParaRPr lang="en-US" sz="1150" dirty="0"/>
          </a:p>
        </p:txBody>
      </p:sp>
      <p:sp>
        <p:nvSpPr>
          <p:cNvPr id="20" name="Shape 16"/>
          <p:cNvSpPr/>
          <p:nvPr/>
        </p:nvSpPr>
        <p:spPr>
          <a:xfrm>
            <a:off x="6263640" y="5074920"/>
            <a:ext cx="219456" cy="219456"/>
          </a:xfrm>
          <a:prstGeom prst="ellipse">
            <a:avLst/>
          </a:prstGeom>
          <a:solidFill>
            <a:srgbClr val="FDECEC"/>
          </a:solidFill>
          <a:ln/>
        </p:spPr>
        <p:txBody>
          <a:bodyPr/>
          <a:lstStyle/>
          <a:p>
            <a:endParaRPr lang="en-ZA"/>
          </a:p>
        </p:txBody>
      </p:sp>
      <p:sp>
        <p:nvSpPr>
          <p:cNvPr id="21" name="Text 17"/>
          <p:cNvSpPr/>
          <p:nvPr/>
        </p:nvSpPr>
        <p:spPr>
          <a:xfrm>
            <a:off x="6263640" y="5056632"/>
            <a:ext cx="219456" cy="219456"/>
          </a:xfrm>
          <a:prstGeom prst="rect">
            <a:avLst/>
          </a:prstGeom>
          <a:noFill/>
          <a:ln/>
        </p:spPr>
        <p:txBody>
          <a:bodyPr wrap="square"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22" name="Text 18"/>
          <p:cNvSpPr/>
          <p:nvPr/>
        </p:nvSpPr>
        <p:spPr>
          <a:xfrm>
            <a:off x="6574536" y="5047488"/>
            <a:ext cx="5038344" cy="438912"/>
          </a:xfrm>
          <a:prstGeom prst="rect">
            <a:avLst/>
          </a:prstGeom>
          <a:noFill/>
          <a:ln/>
        </p:spPr>
        <p:txBody>
          <a:bodyPr wrap="square" rtlCol="0" anchor="ctr"/>
          <a:lstStyle/>
          <a:p>
            <a:pPr marL="0" indent="0">
              <a:buNone/>
            </a:pPr>
            <a:r>
              <a:rPr lang="en-US" sz="1150" dirty="0">
                <a:solidFill>
                  <a:srgbClr val="1A2A3A"/>
                </a:solidFill>
                <a:latin typeface="Arial" pitchFamily="34" charset="0"/>
                <a:ea typeface="Arial" pitchFamily="34" charset="-122"/>
                <a:cs typeface="Arial" pitchFamily="34" charset="-120"/>
              </a:rPr>
              <a:t>Place on busy backgrounds without contrast</a:t>
            </a:r>
            <a:endParaRPr lang="en-US" sz="1150" dirty="0"/>
          </a:p>
        </p:txBody>
      </p:sp>
      <p:sp>
        <p:nvSpPr>
          <p:cNvPr id="23" name="Shape 19"/>
          <p:cNvSpPr/>
          <p:nvPr/>
        </p:nvSpPr>
        <p:spPr>
          <a:xfrm>
            <a:off x="548640" y="5550408"/>
            <a:ext cx="219456" cy="219456"/>
          </a:xfrm>
          <a:prstGeom prst="ellipse">
            <a:avLst/>
          </a:prstGeom>
          <a:solidFill>
            <a:srgbClr val="FDECEC"/>
          </a:solidFill>
          <a:ln/>
        </p:spPr>
        <p:txBody>
          <a:bodyPr/>
          <a:lstStyle/>
          <a:p>
            <a:endParaRPr lang="en-ZA"/>
          </a:p>
        </p:txBody>
      </p:sp>
      <p:sp>
        <p:nvSpPr>
          <p:cNvPr id="24" name="Text 20"/>
          <p:cNvSpPr/>
          <p:nvPr/>
        </p:nvSpPr>
        <p:spPr>
          <a:xfrm>
            <a:off x="548640" y="5532120"/>
            <a:ext cx="219456" cy="219456"/>
          </a:xfrm>
          <a:prstGeom prst="rect">
            <a:avLst/>
          </a:prstGeom>
          <a:noFill/>
          <a:ln/>
        </p:spPr>
        <p:txBody>
          <a:bodyPr wrap="square"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25" name="Text 21"/>
          <p:cNvSpPr/>
          <p:nvPr/>
        </p:nvSpPr>
        <p:spPr>
          <a:xfrm>
            <a:off x="859536" y="5522976"/>
            <a:ext cx="5038344" cy="438912"/>
          </a:xfrm>
          <a:prstGeom prst="rect">
            <a:avLst/>
          </a:prstGeom>
          <a:noFill/>
          <a:ln/>
        </p:spPr>
        <p:txBody>
          <a:bodyPr wrap="square" rtlCol="0" anchor="ctr"/>
          <a:lstStyle/>
          <a:p>
            <a:pPr marL="0" indent="0">
              <a:buNone/>
            </a:pPr>
            <a:r>
              <a:rPr lang="en-US" sz="1150" dirty="0">
                <a:solidFill>
                  <a:srgbClr val="1A2A3A"/>
                </a:solidFill>
                <a:latin typeface="Arial" pitchFamily="34" charset="0"/>
                <a:ea typeface="Arial" pitchFamily="34" charset="-122"/>
                <a:cs typeface="Arial" pitchFamily="34" charset="-120"/>
              </a:rPr>
              <a:t>Add drop shadows or effects</a:t>
            </a:r>
            <a:endParaRPr lang="en-US" sz="1150" dirty="0"/>
          </a:p>
        </p:txBody>
      </p:sp>
      <p:sp>
        <p:nvSpPr>
          <p:cNvPr id="26" name="Shape 22"/>
          <p:cNvSpPr/>
          <p:nvPr/>
        </p:nvSpPr>
        <p:spPr>
          <a:xfrm>
            <a:off x="6263640" y="5550408"/>
            <a:ext cx="219456" cy="219456"/>
          </a:xfrm>
          <a:prstGeom prst="ellipse">
            <a:avLst/>
          </a:prstGeom>
          <a:solidFill>
            <a:srgbClr val="FDECEC"/>
          </a:solidFill>
          <a:ln/>
        </p:spPr>
        <p:txBody>
          <a:bodyPr/>
          <a:lstStyle/>
          <a:p>
            <a:endParaRPr lang="en-ZA"/>
          </a:p>
        </p:txBody>
      </p:sp>
      <p:sp>
        <p:nvSpPr>
          <p:cNvPr id="27" name="Text 23"/>
          <p:cNvSpPr/>
          <p:nvPr/>
        </p:nvSpPr>
        <p:spPr>
          <a:xfrm>
            <a:off x="6263640" y="5532120"/>
            <a:ext cx="219456" cy="219456"/>
          </a:xfrm>
          <a:prstGeom prst="rect">
            <a:avLst/>
          </a:prstGeom>
          <a:noFill/>
          <a:ln/>
        </p:spPr>
        <p:txBody>
          <a:bodyPr wrap="square" rtlCol="0" anchor="ctr"/>
          <a:lstStyle/>
          <a:p>
            <a:pPr marL="0" indent="0" algn="ctr">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28" name="Text 24"/>
          <p:cNvSpPr/>
          <p:nvPr/>
        </p:nvSpPr>
        <p:spPr>
          <a:xfrm>
            <a:off x="6574536" y="5522976"/>
            <a:ext cx="5038344" cy="438912"/>
          </a:xfrm>
          <a:prstGeom prst="rect">
            <a:avLst/>
          </a:prstGeom>
          <a:noFill/>
          <a:ln/>
        </p:spPr>
        <p:txBody>
          <a:bodyPr wrap="square" rtlCol="0" anchor="ctr"/>
          <a:lstStyle/>
          <a:p>
            <a:pPr marL="0" indent="0">
              <a:buNone/>
            </a:pPr>
            <a:r>
              <a:rPr lang="en-US" sz="1150" dirty="0">
                <a:solidFill>
                  <a:srgbClr val="1A2A3A"/>
                </a:solidFill>
                <a:latin typeface="Arial" pitchFamily="34" charset="0"/>
                <a:ea typeface="Arial" pitchFamily="34" charset="-122"/>
                <a:cs typeface="Arial" pitchFamily="34" charset="-120"/>
              </a:rPr>
              <a:t>Use the icon without the brand name in official materials</a:t>
            </a:r>
            <a:endParaRPr lang="en-US" sz="1150" dirty="0"/>
          </a:p>
        </p:txBody>
      </p:sp>
      <p:sp>
        <p:nvSpPr>
          <p:cNvPr id="29" name="Shape 25"/>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30" name="Image 1"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31" name="Text 26"/>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VISUAL IDENTITY</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Colour Palette</a:t>
            </a:r>
            <a:endParaRPr lang="en-US" sz="3000" dirty="0"/>
          </a:p>
        </p:txBody>
      </p:sp>
      <p:sp>
        <p:nvSpPr>
          <p:cNvPr id="4" name="Text 2"/>
          <p:cNvSpPr/>
          <p:nvPr/>
        </p:nvSpPr>
        <p:spPr>
          <a:xfrm>
            <a:off x="548640" y="1417320"/>
            <a:ext cx="4572000" cy="274320"/>
          </a:xfrm>
          <a:prstGeom prst="rect">
            <a:avLst/>
          </a:prstGeom>
          <a:noFill/>
          <a:ln/>
        </p:spPr>
        <p:txBody>
          <a:bodyPr wrap="square" rtlCol="0" anchor="ctr"/>
          <a:lstStyle/>
          <a:p>
            <a:pPr marL="0" indent="0">
              <a:buNone/>
            </a:pPr>
            <a:r>
              <a:rPr lang="en-US" sz="1100" b="1" kern="0" spc="100" dirty="0">
                <a:solidFill>
                  <a:srgbClr val="0B8C3F"/>
                </a:solidFill>
                <a:latin typeface="Arial" pitchFamily="34" charset="0"/>
                <a:ea typeface="Arial" pitchFamily="34" charset="-122"/>
                <a:cs typeface="Arial" pitchFamily="34" charset="-120"/>
              </a:rPr>
              <a:t>PRIMARY</a:t>
            </a:r>
            <a:endParaRPr lang="en-US" sz="1100" dirty="0"/>
          </a:p>
        </p:txBody>
      </p:sp>
      <p:sp>
        <p:nvSpPr>
          <p:cNvPr id="5" name="Shape 3"/>
          <p:cNvSpPr/>
          <p:nvPr/>
        </p:nvSpPr>
        <p:spPr>
          <a:xfrm>
            <a:off x="548640" y="1737360"/>
            <a:ext cx="3520440" cy="1371600"/>
          </a:xfrm>
          <a:prstGeom prst="roundRect">
            <a:avLst>
              <a:gd name="adj" fmla="val 5333"/>
            </a:avLst>
          </a:prstGeom>
          <a:solidFill>
            <a:srgbClr val="0B8C3F"/>
          </a:solidFill>
          <a:ln/>
        </p:spPr>
        <p:txBody>
          <a:bodyPr/>
          <a:lstStyle/>
          <a:p>
            <a:endParaRPr lang="en-ZA"/>
          </a:p>
        </p:txBody>
      </p:sp>
      <p:sp>
        <p:nvSpPr>
          <p:cNvPr id="6" name="Text 4"/>
          <p:cNvSpPr/>
          <p:nvPr/>
        </p:nvSpPr>
        <p:spPr>
          <a:xfrm>
            <a:off x="731520" y="1901952"/>
            <a:ext cx="3154680" cy="32004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eKhaya Green</a:t>
            </a:r>
            <a:endParaRPr lang="en-US" sz="1400" dirty="0"/>
          </a:p>
        </p:txBody>
      </p:sp>
      <p:sp>
        <p:nvSpPr>
          <p:cNvPr id="7" name="Text 5"/>
          <p:cNvSpPr/>
          <p:nvPr/>
        </p:nvSpPr>
        <p:spPr>
          <a:xfrm>
            <a:off x="731520" y="2240280"/>
            <a:ext cx="3154680" cy="274320"/>
          </a:xfrm>
          <a:prstGeom prst="rect">
            <a:avLst/>
          </a:prstGeom>
          <a:noFill/>
          <a:ln/>
        </p:spPr>
        <p:txBody>
          <a:bodyPr wrap="square" rtlCol="0" anchor="ctr"/>
          <a:lstStyle/>
          <a:p>
            <a:pPr marL="0" indent="0">
              <a:buNone/>
            </a:pPr>
            <a:r>
              <a:rPr lang="en-US" sz="1200" dirty="0">
                <a:solidFill>
                  <a:srgbClr val="FFFFFF"/>
                </a:solidFill>
                <a:latin typeface="Arial" pitchFamily="34" charset="0"/>
                <a:ea typeface="Arial" pitchFamily="34" charset="-122"/>
                <a:cs typeface="Arial" pitchFamily="34" charset="-120"/>
              </a:rPr>
              <a:t>#0B8C3F</a:t>
            </a:r>
            <a:endParaRPr lang="en-US" sz="1200" dirty="0"/>
          </a:p>
        </p:txBody>
      </p:sp>
      <p:sp>
        <p:nvSpPr>
          <p:cNvPr id="8" name="Text 6"/>
          <p:cNvSpPr/>
          <p:nvPr/>
        </p:nvSpPr>
        <p:spPr>
          <a:xfrm>
            <a:off x="731520" y="2606040"/>
            <a:ext cx="3154680" cy="45720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Primary — buttons, headers, accents</a:t>
            </a:r>
            <a:endParaRPr lang="en-US" sz="950" dirty="0"/>
          </a:p>
        </p:txBody>
      </p:sp>
      <p:sp>
        <p:nvSpPr>
          <p:cNvPr id="9" name="Shape 7"/>
          <p:cNvSpPr/>
          <p:nvPr/>
        </p:nvSpPr>
        <p:spPr>
          <a:xfrm>
            <a:off x="4343400" y="1737360"/>
            <a:ext cx="3520440" cy="1371600"/>
          </a:xfrm>
          <a:prstGeom prst="roundRect">
            <a:avLst>
              <a:gd name="adj" fmla="val 5333"/>
            </a:avLst>
          </a:prstGeom>
          <a:solidFill>
            <a:srgbClr val="066B2E"/>
          </a:solidFill>
          <a:ln/>
        </p:spPr>
        <p:txBody>
          <a:bodyPr/>
          <a:lstStyle/>
          <a:p>
            <a:endParaRPr lang="en-ZA"/>
          </a:p>
        </p:txBody>
      </p:sp>
      <p:sp>
        <p:nvSpPr>
          <p:cNvPr id="10" name="Text 8"/>
          <p:cNvSpPr/>
          <p:nvPr/>
        </p:nvSpPr>
        <p:spPr>
          <a:xfrm>
            <a:off x="4526280" y="1901952"/>
            <a:ext cx="3154680" cy="32004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eKhaya Green Dark</a:t>
            </a:r>
            <a:endParaRPr lang="en-US" sz="1400" dirty="0"/>
          </a:p>
        </p:txBody>
      </p:sp>
      <p:sp>
        <p:nvSpPr>
          <p:cNvPr id="11" name="Text 9"/>
          <p:cNvSpPr/>
          <p:nvPr/>
        </p:nvSpPr>
        <p:spPr>
          <a:xfrm>
            <a:off x="4526280" y="2240280"/>
            <a:ext cx="3154680" cy="274320"/>
          </a:xfrm>
          <a:prstGeom prst="rect">
            <a:avLst/>
          </a:prstGeom>
          <a:noFill/>
          <a:ln/>
        </p:spPr>
        <p:txBody>
          <a:bodyPr wrap="square" rtlCol="0" anchor="ctr"/>
          <a:lstStyle/>
          <a:p>
            <a:pPr marL="0" indent="0">
              <a:buNone/>
            </a:pPr>
            <a:r>
              <a:rPr lang="en-US" sz="1200" dirty="0">
                <a:solidFill>
                  <a:srgbClr val="FFFFFF"/>
                </a:solidFill>
                <a:latin typeface="Arial" pitchFamily="34" charset="0"/>
                <a:ea typeface="Arial" pitchFamily="34" charset="-122"/>
                <a:cs typeface="Arial" pitchFamily="34" charset="-120"/>
              </a:rPr>
              <a:t>#066B2E</a:t>
            </a:r>
            <a:endParaRPr lang="en-US" sz="1200" dirty="0"/>
          </a:p>
        </p:txBody>
      </p:sp>
      <p:sp>
        <p:nvSpPr>
          <p:cNvPr id="12" name="Text 10"/>
          <p:cNvSpPr/>
          <p:nvPr/>
        </p:nvSpPr>
        <p:spPr>
          <a:xfrm>
            <a:off x="4526280" y="2606040"/>
            <a:ext cx="3154680" cy="45720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Hover states, darker elements</a:t>
            </a:r>
            <a:endParaRPr lang="en-US" sz="950" dirty="0"/>
          </a:p>
        </p:txBody>
      </p:sp>
      <p:sp>
        <p:nvSpPr>
          <p:cNvPr id="13" name="Shape 11"/>
          <p:cNvSpPr/>
          <p:nvPr/>
        </p:nvSpPr>
        <p:spPr>
          <a:xfrm>
            <a:off x="8138160" y="1737360"/>
            <a:ext cx="3520440" cy="1371600"/>
          </a:xfrm>
          <a:prstGeom prst="roundRect">
            <a:avLst>
              <a:gd name="adj" fmla="val 5333"/>
            </a:avLst>
          </a:prstGeom>
          <a:solidFill>
            <a:srgbClr val="F5B342"/>
          </a:solidFill>
          <a:ln/>
        </p:spPr>
        <p:txBody>
          <a:bodyPr/>
          <a:lstStyle/>
          <a:p>
            <a:endParaRPr lang="en-ZA"/>
          </a:p>
        </p:txBody>
      </p:sp>
      <p:sp>
        <p:nvSpPr>
          <p:cNvPr id="14" name="Text 12"/>
          <p:cNvSpPr/>
          <p:nvPr/>
        </p:nvSpPr>
        <p:spPr>
          <a:xfrm>
            <a:off x="8321040" y="1901952"/>
            <a:ext cx="3154680" cy="320040"/>
          </a:xfrm>
          <a:prstGeom prst="rect">
            <a:avLst/>
          </a:prstGeom>
          <a:noFill/>
          <a:ln/>
        </p:spPr>
        <p:txBody>
          <a:bodyPr wrap="square" rtlCol="0" anchor="ctr"/>
          <a:lstStyle/>
          <a:p>
            <a:pPr marL="0" indent="0">
              <a:buNone/>
            </a:pPr>
            <a:r>
              <a:rPr lang="en-US" sz="1400" b="1" dirty="0">
                <a:solidFill>
                  <a:srgbClr val="1A2A3A"/>
                </a:solidFill>
                <a:latin typeface="Arial" pitchFamily="34" charset="0"/>
                <a:ea typeface="Arial" pitchFamily="34" charset="-122"/>
                <a:cs typeface="Arial" pitchFamily="34" charset="-120"/>
              </a:rPr>
              <a:t>eKhaya Gold</a:t>
            </a:r>
            <a:endParaRPr lang="en-US" sz="1400" dirty="0"/>
          </a:p>
        </p:txBody>
      </p:sp>
      <p:sp>
        <p:nvSpPr>
          <p:cNvPr id="15" name="Text 13"/>
          <p:cNvSpPr/>
          <p:nvPr/>
        </p:nvSpPr>
        <p:spPr>
          <a:xfrm>
            <a:off x="8321040" y="2240280"/>
            <a:ext cx="3154680" cy="274320"/>
          </a:xfrm>
          <a:prstGeom prst="rect">
            <a:avLst/>
          </a:prstGeom>
          <a:noFill/>
          <a:ln/>
        </p:spPr>
        <p:txBody>
          <a:bodyPr wrap="square" rtlCol="0" anchor="ctr"/>
          <a:lstStyle/>
          <a:p>
            <a:pPr marL="0" indent="0">
              <a:buNone/>
            </a:pPr>
            <a:r>
              <a:rPr lang="en-US" sz="1200" dirty="0">
                <a:solidFill>
                  <a:srgbClr val="1A2A3A"/>
                </a:solidFill>
                <a:latin typeface="Arial" pitchFamily="34" charset="0"/>
                <a:ea typeface="Arial" pitchFamily="34" charset="-122"/>
                <a:cs typeface="Arial" pitchFamily="34" charset="-120"/>
              </a:rPr>
              <a:t>#F5B342</a:t>
            </a:r>
            <a:endParaRPr lang="en-US" sz="1200" dirty="0"/>
          </a:p>
        </p:txBody>
      </p:sp>
      <p:sp>
        <p:nvSpPr>
          <p:cNvPr id="16" name="Text 14"/>
          <p:cNvSpPr/>
          <p:nvPr/>
        </p:nvSpPr>
        <p:spPr>
          <a:xfrm>
            <a:off x="8321040" y="2606040"/>
            <a:ext cx="3154680" cy="457200"/>
          </a:xfrm>
          <a:prstGeom prst="rect">
            <a:avLst/>
          </a:prstGeom>
          <a:noFill/>
          <a:ln/>
        </p:spPr>
        <p:txBody>
          <a:bodyPr wrap="square" rtlCol="0" anchor="t"/>
          <a:lstStyle/>
          <a:p>
            <a:pPr marL="0" indent="0">
              <a:buNone/>
            </a:pPr>
            <a:r>
              <a:rPr lang="en-US" sz="950" dirty="0">
                <a:solidFill>
                  <a:srgbClr val="1A2A3A"/>
                </a:solidFill>
                <a:latin typeface="Arial" pitchFamily="34" charset="0"/>
                <a:ea typeface="Arial" pitchFamily="34" charset="-122"/>
                <a:cs typeface="Arial" pitchFamily="34" charset="-120"/>
              </a:rPr>
              <a:t>Highlights, badges, CTAs</a:t>
            </a:r>
            <a:endParaRPr lang="en-US" sz="950" dirty="0"/>
          </a:p>
        </p:txBody>
      </p:sp>
      <p:sp>
        <p:nvSpPr>
          <p:cNvPr id="17" name="Text 15"/>
          <p:cNvSpPr/>
          <p:nvPr/>
        </p:nvSpPr>
        <p:spPr>
          <a:xfrm>
            <a:off x="548640" y="3246120"/>
            <a:ext cx="4572000" cy="274320"/>
          </a:xfrm>
          <a:prstGeom prst="rect">
            <a:avLst/>
          </a:prstGeom>
          <a:noFill/>
          <a:ln/>
        </p:spPr>
        <p:txBody>
          <a:bodyPr wrap="square" rtlCol="0" anchor="ctr"/>
          <a:lstStyle/>
          <a:p>
            <a:pPr marL="0" indent="0">
              <a:buNone/>
            </a:pPr>
            <a:r>
              <a:rPr lang="en-US" sz="1100" b="1" kern="0" spc="100" dirty="0">
                <a:solidFill>
                  <a:srgbClr val="0B8C3F"/>
                </a:solidFill>
                <a:latin typeface="Arial" pitchFamily="34" charset="0"/>
                <a:ea typeface="Arial" pitchFamily="34" charset="-122"/>
                <a:cs typeface="Arial" pitchFamily="34" charset="-120"/>
              </a:rPr>
              <a:t>NEUTRALS</a:t>
            </a:r>
            <a:endParaRPr lang="en-US" sz="1100" dirty="0"/>
          </a:p>
        </p:txBody>
      </p:sp>
      <p:sp>
        <p:nvSpPr>
          <p:cNvPr id="18" name="Shape 16"/>
          <p:cNvSpPr/>
          <p:nvPr/>
        </p:nvSpPr>
        <p:spPr>
          <a:xfrm>
            <a:off x="548640" y="3547872"/>
            <a:ext cx="2587752" cy="960120"/>
          </a:xfrm>
          <a:prstGeom prst="roundRect">
            <a:avLst>
              <a:gd name="adj" fmla="val 7619"/>
            </a:avLst>
          </a:prstGeom>
          <a:solidFill>
            <a:srgbClr val="1A2A3A"/>
          </a:solidFill>
          <a:ln/>
        </p:spPr>
        <p:txBody>
          <a:bodyPr/>
          <a:lstStyle/>
          <a:p>
            <a:endParaRPr lang="en-ZA"/>
          </a:p>
        </p:txBody>
      </p:sp>
      <p:sp>
        <p:nvSpPr>
          <p:cNvPr id="19" name="Text 17"/>
          <p:cNvSpPr/>
          <p:nvPr/>
        </p:nvSpPr>
        <p:spPr>
          <a:xfrm>
            <a:off x="685800" y="3666744"/>
            <a:ext cx="2313432" cy="27432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Dark</a:t>
            </a:r>
            <a:endParaRPr lang="en-US" sz="1250" dirty="0"/>
          </a:p>
        </p:txBody>
      </p:sp>
      <p:sp>
        <p:nvSpPr>
          <p:cNvPr id="20" name="Text 18"/>
          <p:cNvSpPr/>
          <p:nvPr/>
        </p:nvSpPr>
        <p:spPr>
          <a:xfrm>
            <a:off x="685800" y="3950208"/>
            <a:ext cx="2313432" cy="228600"/>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#1A2A3A</a:t>
            </a:r>
            <a:endParaRPr lang="en-US" sz="1050" dirty="0"/>
          </a:p>
        </p:txBody>
      </p:sp>
      <p:sp>
        <p:nvSpPr>
          <p:cNvPr id="21" name="Text 19"/>
          <p:cNvSpPr/>
          <p:nvPr/>
        </p:nvSpPr>
        <p:spPr>
          <a:xfrm>
            <a:off x="685800" y="4187952"/>
            <a:ext cx="2313432" cy="310896"/>
          </a:xfrm>
          <a:prstGeom prst="rect">
            <a:avLst/>
          </a:prstGeom>
          <a:noFill/>
          <a:ln/>
        </p:spPr>
        <p:txBody>
          <a:bodyPr wrap="square" rtlCol="0" anchor="t"/>
          <a:lstStyle/>
          <a:p>
            <a:pPr marL="0" indent="0">
              <a:buNone/>
            </a:pPr>
            <a:r>
              <a:rPr lang="en-US" sz="850" dirty="0">
                <a:solidFill>
                  <a:srgbClr val="FFFFFF"/>
                </a:solidFill>
                <a:latin typeface="Arial" pitchFamily="34" charset="0"/>
                <a:ea typeface="Arial" pitchFamily="34" charset="-122"/>
                <a:cs typeface="Arial" pitchFamily="34" charset="-120"/>
              </a:rPr>
              <a:t>Headlines, primary text</a:t>
            </a:r>
            <a:endParaRPr lang="en-US" sz="850" dirty="0"/>
          </a:p>
        </p:txBody>
      </p:sp>
      <p:sp>
        <p:nvSpPr>
          <p:cNvPr id="22" name="Shape 20"/>
          <p:cNvSpPr/>
          <p:nvPr/>
        </p:nvSpPr>
        <p:spPr>
          <a:xfrm>
            <a:off x="3337560" y="3547872"/>
            <a:ext cx="2587752" cy="960120"/>
          </a:xfrm>
          <a:prstGeom prst="roundRect">
            <a:avLst>
              <a:gd name="adj" fmla="val 7619"/>
            </a:avLst>
          </a:prstGeom>
          <a:solidFill>
            <a:srgbClr val="6C7A8A"/>
          </a:solidFill>
          <a:ln/>
        </p:spPr>
        <p:txBody>
          <a:bodyPr/>
          <a:lstStyle/>
          <a:p>
            <a:endParaRPr lang="en-ZA"/>
          </a:p>
        </p:txBody>
      </p:sp>
      <p:sp>
        <p:nvSpPr>
          <p:cNvPr id="23" name="Text 21"/>
          <p:cNvSpPr/>
          <p:nvPr/>
        </p:nvSpPr>
        <p:spPr>
          <a:xfrm>
            <a:off x="3474720" y="3666744"/>
            <a:ext cx="2313432" cy="27432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Gray</a:t>
            </a:r>
            <a:endParaRPr lang="en-US" sz="1250" dirty="0"/>
          </a:p>
        </p:txBody>
      </p:sp>
      <p:sp>
        <p:nvSpPr>
          <p:cNvPr id="24" name="Text 22"/>
          <p:cNvSpPr/>
          <p:nvPr/>
        </p:nvSpPr>
        <p:spPr>
          <a:xfrm>
            <a:off x="3474720" y="3950208"/>
            <a:ext cx="2313432" cy="228600"/>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#6C7A8A</a:t>
            </a:r>
            <a:endParaRPr lang="en-US" sz="1050" dirty="0"/>
          </a:p>
        </p:txBody>
      </p:sp>
      <p:sp>
        <p:nvSpPr>
          <p:cNvPr id="25" name="Text 23"/>
          <p:cNvSpPr/>
          <p:nvPr/>
        </p:nvSpPr>
        <p:spPr>
          <a:xfrm>
            <a:off x="3474720" y="4187952"/>
            <a:ext cx="2313432" cy="310896"/>
          </a:xfrm>
          <a:prstGeom prst="rect">
            <a:avLst/>
          </a:prstGeom>
          <a:noFill/>
          <a:ln/>
        </p:spPr>
        <p:txBody>
          <a:bodyPr wrap="square" rtlCol="0" anchor="t"/>
          <a:lstStyle/>
          <a:p>
            <a:pPr marL="0" indent="0">
              <a:buNone/>
            </a:pPr>
            <a:r>
              <a:rPr lang="en-US" sz="850" dirty="0">
                <a:solidFill>
                  <a:srgbClr val="FFFFFF"/>
                </a:solidFill>
                <a:latin typeface="Arial" pitchFamily="34" charset="0"/>
                <a:ea typeface="Arial" pitchFamily="34" charset="-122"/>
                <a:cs typeface="Arial" pitchFamily="34" charset="-120"/>
              </a:rPr>
              <a:t>Body text, secondary info</a:t>
            </a:r>
            <a:endParaRPr lang="en-US" sz="850" dirty="0"/>
          </a:p>
        </p:txBody>
      </p:sp>
      <p:sp>
        <p:nvSpPr>
          <p:cNvPr id="26" name="Shape 24"/>
          <p:cNvSpPr/>
          <p:nvPr/>
        </p:nvSpPr>
        <p:spPr>
          <a:xfrm>
            <a:off x="6126480" y="3547872"/>
            <a:ext cx="2587752" cy="960120"/>
          </a:xfrm>
          <a:prstGeom prst="roundRect">
            <a:avLst>
              <a:gd name="adj" fmla="val 7619"/>
            </a:avLst>
          </a:prstGeom>
          <a:solidFill>
            <a:srgbClr val="F8FAFC"/>
          </a:solidFill>
          <a:ln w="12700">
            <a:solidFill>
              <a:srgbClr val="E2E8F0"/>
            </a:solidFill>
            <a:prstDash val="solid"/>
          </a:ln>
        </p:spPr>
        <p:txBody>
          <a:bodyPr/>
          <a:lstStyle/>
          <a:p>
            <a:endParaRPr lang="en-ZA"/>
          </a:p>
        </p:txBody>
      </p:sp>
      <p:sp>
        <p:nvSpPr>
          <p:cNvPr id="27" name="Text 25"/>
          <p:cNvSpPr/>
          <p:nvPr/>
        </p:nvSpPr>
        <p:spPr>
          <a:xfrm>
            <a:off x="6263640" y="3666744"/>
            <a:ext cx="2313432" cy="274320"/>
          </a:xfrm>
          <a:prstGeom prst="rect">
            <a:avLst/>
          </a:prstGeom>
          <a:noFill/>
          <a:ln/>
        </p:spPr>
        <p:txBody>
          <a:bodyPr wrap="square" rtlCol="0" anchor="ctr"/>
          <a:lstStyle/>
          <a:p>
            <a:pPr marL="0" indent="0">
              <a:buNone/>
            </a:pPr>
            <a:r>
              <a:rPr lang="en-US" sz="1250" b="1" dirty="0">
                <a:solidFill>
                  <a:srgbClr val="1A2A3A"/>
                </a:solidFill>
                <a:latin typeface="Arial" pitchFamily="34" charset="0"/>
                <a:ea typeface="Arial" pitchFamily="34" charset="-122"/>
                <a:cs typeface="Arial" pitchFamily="34" charset="-120"/>
              </a:rPr>
              <a:t>Light</a:t>
            </a:r>
            <a:endParaRPr lang="en-US" sz="1250" dirty="0"/>
          </a:p>
        </p:txBody>
      </p:sp>
      <p:sp>
        <p:nvSpPr>
          <p:cNvPr id="28" name="Text 26"/>
          <p:cNvSpPr/>
          <p:nvPr/>
        </p:nvSpPr>
        <p:spPr>
          <a:xfrm>
            <a:off x="6263640" y="3950208"/>
            <a:ext cx="2313432" cy="228600"/>
          </a:xfrm>
          <a:prstGeom prst="rect">
            <a:avLst/>
          </a:prstGeom>
          <a:noFill/>
          <a:ln/>
        </p:spPr>
        <p:txBody>
          <a:bodyPr wrap="square" rtlCol="0" anchor="ctr"/>
          <a:lstStyle/>
          <a:p>
            <a:pPr marL="0" indent="0">
              <a:buNone/>
            </a:pPr>
            <a:r>
              <a:rPr lang="en-US" sz="1050" dirty="0">
                <a:solidFill>
                  <a:srgbClr val="1A2A3A"/>
                </a:solidFill>
                <a:latin typeface="Arial" pitchFamily="34" charset="0"/>
                <a:ea typeface="Arial" pitchFamily="34" charset="-122"/>
                <a:cs typeface="Arial" pitchFamily="34" charset="-120"/>
              </a:rPr>
              <a:t>#F8FAFC</a:t>
            </a:r>
            <a:endParaRPr lang="en-US" sz="1050" dirty="0"/>
          </a:p>
        </p:txBody>
      </p:sp>
      <p:sp>
        <p:nvSpPr>
          <p:cNvPr id="29" name="Text 27"/>
          <p:cNvSpPr/>
          <p:nvPr/>
        </p:nvSpPr>
        <p:spPr>
          <a:xfrm>
            <a:off x="6263640" y="4187952"/>
            <a:ext cx="2313432" cy="310896"/>
          </a:xfrm>
          <a:prstGeom prst="rect">
            <a:avLst/>
          </a:prstGeom>
          <a:noFill/>
          <a:ln/>
        </p:spPr>
        <p:txBody>
          <a:bodyPr wrap="square" rtlCol="0" anchor="t"/>
          <a:lstStyle/>
          <a:p>
            <a:pPr marL="0" indent="0">
              <a:buNone/>
            </a:pPr>
            <a:r>
              <a:rPr lang="en-US" sz="850" dirty="0">
                <a:solidFill>
                  <a:srgbClr val="1A2A3A"/>
                </a:solidFill>
                <a:latin typeface="Arial" pitchFamily="34" charset="0"/>
                <a:ea typeface="Arial" pitchFamily="34" charset="-122"/>
                <a:cs typeface="Arial" pitchFamily="34" charset="-120"/>
              </a:rPr>
              <a:t>Backgrounds</a:t>
            </a:r>
            <a:endParaRPr lang="en-US" sz="850" dirty="0"/>
          </a:p>
        </p:txBody>
      </p:sp>
      <p:sp>
        <p:nvSpPr>
          <p:cNvPr id="30" name="Shape 28"/>
          <p:cNvSpPr/>
          <p:nvPr/>
        </p:nvSpPr>
        <p:spPr>
          <a:xfrm>
            <a:off x="8915400" y="3547872"/>
            <a:ext cx="2587752" cy="960120"/>
          </a:xfrm>
          <a:prstGeom prst="roundRect">
            <a:avLst>
              <a:gd name="adj" fmla="val 7619"/>
            </a:avLst>
          </a:prstGeom>
          <a:solidFill>
            <a:srgbClr val="FFFFFF"/>
          </a:solidFill>
          <a:ln w="12700">
            <a:solidFill>
              <a:srgbClr val="E2E8F0"/>
            </a:solidFill>
            <a:prstDash val="solid"/>
          </a:ln>
        </p:spPr>
        <p:txBody>
          <a:bodyPr/>
          <a:lstStyle/>
          <a:p>
            <a:endParaRPr lang="en-ZA"/>
          </a:p>
        </p:txBody>
      </p:sp>
      <p:sp>
        <p:nvSpPr>
          <p:cNvPr id="31" name="Text 29"/>
          <p:cNvSpPr/>
          <p:nvPr/>
        </p:nvSpPr>
        <p:spPr>
          <a:xfrm>
            <a:off x="9052560" y="3666744"/>
            <a:ext cx="2313432" cy="274320"/>
          </a:xfrm>
          <a:prstGeom prst="rect">
            <a:avLst/>
          </a:prstGeom>
          <a:noFill/>
          <a:ln/>
        </p:spPr>
        <p:txBody>
          <a:bodyPr wrap="square" rtlCol="0" anchor="ctr"/>
          <a:lstStyle/>
          <a:p>
            <a:pPr marL="0" indent="0">
              <a:buNone/>
            </a:pPr>
            <a:r>
              <a:rPr lang="en-US" sz="1250" b="1" dirty="0">
                <a:solidFill>
                  <a:srgbClr val="1A2A3A"/>
                </a:solidFill>
                <a:latin typeface="Arial" pitchFamily="34" charset="0"/>
                <a:ea typeface="Arial" pitchFamily="34" charset="-122"/>
                <a:cs typeface="Arial" pitchFamily="34" charset="-120"/>
              </a:rPr>
              <a:t>White</a:t>
            </a:r>
            <a:endParaRPr lang="en-US" sz="1250" dirty="0"/>
          </a:p>
        </p:txBody>
      </p:sp>
      <p:sp>
        <p:nvSpPr>
          <p:cNvPr id="32" name="Text 30"/>
          <p:cNvSpPr/>
          <p:nvPr/>
        </p:nvSpPr>
        <p:spPr>
          <a:xfrm>
            <a:off x="9052560" y="3950208"/>
            <a:ext cx="2313432" cy="228600"/>
          </a:xfrm>
          <a:prstGeom prst="rect">
            <a:avLst/>
          </a:prstGeom>
          <a:noFill/>
          <a:ln/>
        </p:spPr>
        <p:txBody>
          <a:bodyPr wrap="square" rtlCol="0" anchor="ctr"/>
          <a:lstStyle/>
          <a:p>
            <a:pPr marL="0" indent="0">
              <a:buNone/>
            </a:pPr>
            <a:r>
              <a:rPr lang="en-US" sz="1050" dirty="0">
                <a:solidFill>
                  <a:srgbClr val="1A2A3A"/>
                </a:solidFill>
                <a:latin typeface="Arial" pitchFamily="34" charset="0"/>
                <a:ea typeface="Arial" pitchFamily="34" charset="-122"/>
                <a:cs typeface="Arial" pitchFamily="34" charset="-120"/>
              </a:rPr>
              <a:t>#FFFFFF</a:t>
            </a:r>
            <a:endParaRPr lang="en-US" sz="1050" dirty="0"/>
          </a:p>
        </p:txBody>
      </p:sp>
      <p:sp>
        <p:nvSpPr>
          <p:cNvPr id="33" name="Text 31"/>
          <p:cNvSpPr/>
          <p:nvPr/>
        </p:nvSpPr>
        <p:spPr>
          <a:xfrm>
            <a:off x="9052560" y="4187952"/>
            <a:ext cx="2313432" cy="310896"/>
          </a:xfrm>
          <a:prstGeom prst="rect">
            <a:avLst/>
          </a:prstGeom>
          <a:noFill/>
          <a:ln/>
        </p:spPr>
        <p:txBody>
          <a:bodyPr wrap="square" rtlCol="0" anchor="t"/>
          <a:lstStyle/>
          <a:p>
            <a:pPr marL="0" indent="0">
              <a:buNone/>
            </a:pPr>
            <a:r>
              <a:rPr lang="en-US" sz="850" dirty="0">
                <a:solidFill>
                  <a:srgbClr val="1A2A3A"/>
                </a:solidFill>
                <a:latin typeface="Arial" pitchFamily="34" charset="0"/>
                <a:ea typeface="Arial" pitchFamily="34" charset="-122"/>
                <a:cs typeface="Arial" pitchFamily="34" charset="-120"/>
              </a:rPr>
              <a:t>Cards, clean backgrounds</a:t>
            </a:r>
            <a:endParaRPr lang="en-US" sz="850" dirty="0"/>
          </a:p>
        </p:txBody>
      </p:sp>
      <p:sp>
        <p:nvSpPr>
          <p:cNvPr id="34" name="Text 32"/>
          <p:cNvSpPr/>
          <p:nvPr/>
        </p:nvSpPr>
        <p:spPr>
          <a:xfrm>
            <a:off x="548640" y="4754880"/>
            <a:ext cx="4572000" cy="274320"/>
          </a:xfrm>
          <a:prstGeom prst="rect">
            <a:avLst/>
          </a:prstGeom>
          <a:noFill/>
          <a:ln/>
        </p:spPr>
        <p:txBody>
          <a:bodyPr wrap="square" rtlCol="0" anchor="ctr"/>
          <a:lstStyle/>
          <a:p>
            <a:pPr marL="0" indent="0">
              <a:buNone/>
            </a:pPr>
            <a:r>
              <a:rPr lang="en-US" sz="1100" b="1" kern="0" spc="100" dirty="0">
                <a:solidFill>
                  <a:srgbClr val="0B8C3F"/>
                </a:solidFill>
                <a:latin typeface="Arial" pitchFamily="34" charset="0"/>
                <a:ea typeface="Arial" pitchFamily="34" charset="-122"/>
                <a:cs typeface="Arial" pitchFamily="34" charset="-120"/>
              </a:rPr>
              <a:t>ACCESSIBILITY</a:t>
            </a:r>
            <a:endParaRPr lang="en-US" sz="1100" dirty="0"/>
          </a:p>
        </p:txBody>
      </p:sp>
      <p:graphicFrame>
        <p:nvGraphicFramePr>
          <p:cNvPr id="35" name="Table 0"/>
          <p:cNvGraphicFramePr>
            <a:graphicFrameLocks noGrp="1"/>
          </p:cNvGraphicFramePr>
          <p:nvPr/>
        </p:nvGraphicFramePr>
        <p:xfrm>
          <a:off x="548640" y="5056632"/>
          <a:ext cx="11064240" cy="1257300"/>
        </p:xfrm>
        <a:graphic>
          <a:graphicData uri="http://schemas.openxmlformats.org/drawingml/2006/table">
            <a:tbl>
              <a:tblPr/>
              <a:tblGrid>
                <a:gridCol w="4114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FFFFFF"/>
                          </a:solidFill>
                          <a:latin typeface="Arial" pitchFamily="34" charset="0"/>
                          <a:ea typeface="Arial" pitchFamily="34" charset="-122"/>
                          <a:cs typeface="Arial" pitchFamily="34" charset="-120"/>
                        </a:rPr>
                        <a:t>Combination</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Contrast Ratio</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WCAG</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extLst>
                  <a:ext uri="{0D108BD9-81ED-4DB2-BD59-A6C34878D82A}">
                    <a16:rowId xmlns:a16="http://schemas.microsoft.com/office/drawing/2014/main" val="10000"/>
                  </a:ext>
                </a:extLst>
              </a:tr>
              <a:tr h="219456">
                <a:tc>
                  <a:txBody>
                    <a:bodyPr/>
                    <a:lstStyle/>
                    <a:p>
                      <a:pPr marL="0" indent="0">
                        <a:buNone/>
                      </a:pPr>
                      <a:r>
                        <a:rPr lang="en-US" sz="1050" dirty="0">
                          <a:solidFill>
                            <a:srgbClr val="1A2A3A"/>
                          </a:solidFill>
                          <a:latin typeface="Arial" pitchFamily="34" charset="0"/>
                          <a:ea typeface="Arial" pitchFamily="34" charset="-122"/>
                          <a:cs typeface="Arial" pitchFamily="34" charset="-120"/>
                        </a:rPr>
                        <a:t>Green on White</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4.5:1</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 AA (pass)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dirty="0">
                          <a:solidFill>
                            <a:srgbClr val="1A2A3A"/>
                          </a:solidFill>
                          <a:latin typeface="Arial" pitchFamily="34" charset="0"/>
                          <a:ea typeface="Arial" pitchFamily="34" charset="-122"/>
                          <a:cs typeface="Arial" pitchFamily="34" charset="-120"/>
                        </a:rPr>
                        <a:t>Gold on White</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2.8:1</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 Fails (accents only)</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dirty="0">
                          <a:solidFill>
                            <a:srgbClr val="1A2A3A"/>
                          </a:solidFill>
                          <a:latin typeface="Arial" pitchFamily="34" charset="0"/>
                          <a:ea typeface="Arial" pitchFamily="34" charset="-122"/>
                          <a:cs typeface="Arial" pitchFamily="34" charset="-120"/>
                        </a:rPr>
                        <a:t>White on Green</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4.5:1</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 AA (pass)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50" dirty="0">
                          <a:solidFill>
                            <a:srgbClr val="1A2A3A"/>
                          </a:solidFill>
                          <a:latin typeface="Arial" pitchFamily="34" charset="0"/>
                          <a:ea typeface="Arial" pitchFamily="34" charset="-122"/>
                          <a:cs typeface="Arial" pitchFamily="34" charset="-120"/>
                        </a:rPr>
                        <a:t>Dark on White</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15:1</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 AAA (pass)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6" name="Shape 33"/>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37"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38" name="Text 34"/>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VISUAL IDENTITY</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Typography</a:t>
            </a:r>
            <a:endParaRPr lang="en-US" sz="3000" dirty="0"/>
          </a:p>
        </p:txBody>
      </p:sp>
      <p:sp>
        <p:nvSpPr>
          <p:cNvPr id="4" name="Text 2"/>
          <p:cNvSpPr/>
          <p:nvPr/>
        </p:nvSpPr>
        <p:spPr>
          <a:xfrm>
            <a:off x="548640" y="1463040"/>
            <a:ext cx="7315200" cy="365760"/>
          </a:xfrm>
          <a:prstGeom prst="rect">
            <a:avLst/>
          </a:prstGeom>
          <a:noFill/>
          <a:ln/>
        </p:spPr>
        <p:txBody>
          <a:bodyPr wrap="square" rtlCol="0" anchor="ctr"/>
          <a:lstStyle/>
          <a:p>
            <a:pPr marL="0" indent="0">
              <a:buNone/>
            </a:pPr>
            <a:r>
              <a:rPr lang="en-US" sz="1700" b="1" dirty="0">
                <a:solidFill>
                  <a:srgbClr val="1A2A3A"/>
                </a:solidFill>
                <a:latin typeface="Arial" pitchFamily="34" charset="0"/>
                <a:ea typeface="Arial" pitchFamily="34" charset="-122"/>
                <a:cs typeface="Arial" pitchFamily="34" charset="-120"/>
              </a:rPr>
              <a:t>Primary Font: Inter</a:t>
            </a:r>
            <a:endParaRPr lang="en-US" sz="1700" dirty="0"/>
          </a:p>
        </p:txBody>
      </p:sp>
      <p:sp>
        <p:nvSpPr>
          <p:cNvPr id="5" name="Text 3"/>
          <p:cNvSpPr/>
          <p:nvPr/>
        </p:nvSpPr>
        <p:spPr>
          <a:xfrm>
            <a:off x="548640" y="1828800"/>
            <a:ext cx="7315200" cy="320040"/>
          </a:xfrm>
          <a:prstGeom prst="rect">
            <a:avLst/>
          </a:prstGeom>
          <a:noFill/>
          <a:ln/>
        </p:spPr>
        <p:txBody>
          <a:bodyPr wrap="square" rtlCol="0" anchor="ctr"/>
          <a:lstStyle/>
          <a:p>
            <a:pPr marL="0" indent="0">
              <a:buNone/>
            </a:pPr>
            <a:r>
              <a:rPr lang="en-US" sz="1200" i="1" dirty="0">
                <a:solidFill>
                  <a:srgbClr val="6C7A8A"/>
                </a:solidFill>
                <a:latin typeface="Arial" pitchFamily="34" charset="0"/>
                <a:ea typeface="Arial" pitchFamily="34" charset="-122"/>
                <a:cs typeface="Arial" pitchFamily="34" charset="-120"/>
              </a:rPr>
              <a:t>Clean, modern, highly readable — and free.</a:t>
            </a:r>
            <a:endParaRPr lang="en-US" sz="1200" dirty="0"/>
          </a:p>
        </p:txBody>
      </p:sp>
      <p:sp>
        <p:nvSpPr>
          <p:cNvPr id="6" name="Text 4"/>
          <p:cNvSpPr/>
          <p:nvPr/>
        </p:nvSpPr>
        <p:spPr>
          <a:xfrm>
            <a:off x="548640" y="2331720"/>
            <a:ext cx="3840480" cy="457200"/>
          </a:xfrm>
          <a:prstGeom prst="rect">
            <a:avLst/>
          </a:prstGeom>
          <a:noFill/>
          <a:ln/>
        </p:spPr>
        <p:txBody>
          <a:bodyPr wrap="square" rtlCol="0" anchor="ctr"/>
          <a:lstStyle/>
          <a:p>
            <a:pPr marL="0" indent="0">
              <a:buNone/>
            </a:pPr>
            <a:r>
              <a:rPr lang="en-US" sz="2600" b="1" dirty="0">
                <a:solidFill>
                  <a:srgbClr val="1A2A3A"/>
                </a:solidFill>
                <a:latin typeface="Arial" pitchFamily="34" charset="0"/>
                <a:ea typeface="Arial" pitchFamily="34" charset="-122"/>
                <a:cs typeface="Arial" pitchFamily="34" charset="-120"/>
              </a:rPr>
              <a:t>Inter 800</a:t>
            </a:r>
            <a:endParaRPr lang="en-US" sz="2600" dirty="0"/>
          </a:p>
        </p:txBody>
      </p:sp>
      <p:sp>
        <p:nvSpPr>
          <p:cNvPr id="7" name="Text 5"/>
          <p:cNvSpPr/>
          <p:nvPr/>
        </p:nvSpPr>
        <p:spPr>
          <a:xfrm>
            <a:off x="4480560" y="2331720"/>
            <a:ext cx="4114800" cy="457200"/>
          </a:xfrm>
          <a:prstGeom prst="rect">
            <a:avLst/>
          </a:prstGeom>
          <a:noFill/>
          <a:ln/>
        </p:spPr>
        <p:txBody>
          <a:bodyPr wrap="square" rtlCol="0" anchor="ctr"/>
          <a:lstStyle/>
          <a:p>
            <a:pPr marL="0" indent="0">
              <a:buNone/>
            </a:pPr>
            <a:r>
              <a:rPr lang="en-US" sz="1100" dirty="0">
                <a:solidFill>
                  <a:srgbClr val="6C7A8A"/>
                </a:solidFill>
                <a:latin typeface="Arial" pitchFamily="34" charset="0"/>
                <a:ea typeface="Arial" pitchFamily="34" charset="-122"/>
                <a:cs typeface="Arial" pitchFamily="34" charset="-120"/>
              </a:rPr>
              <a:t>Headlines, hero text</a:t>
            </a:r>
            <a:endParaRPr lang="en-US" sz="1100" dirty="0"/>
          </a:p>
        </p:txBody>
      </p:sp>
      <p:sp>
        <p:nvSpPr>
          <p:cNvPr id="8" name="Text 6"/>
          <p:cNvSpPr/>
          <p:nvPr/>
        </p:nvSpPr>
        <p:spPr>
          <a:xfrm>
            <a:off x="548640" y="2898648"/>
            <a:ext cx="3840480" cy="457200"/>
          </a:xfrm>
          <a:prstGeom prst="rect">
            <a:avLst/>
          </a:prstGeom>
          <a:noFill/>
          <a:ln/>
        </p:spPr>
        <p:txBody>
          <a:bodyPr wrap="square" rtlCol="0" anchor="ctr"/>
          <a:lstStyle/>
          <a:p>
            <a:pPr marL="0" indent="0">
              <a:buNone/>
            </a:pPr>
            <a:r>
              <a:rPr lang="en-US" sz="2000" b="1" dirty="0">
                <a:solidFill>
                  <a:srgbClr val="1A2A3A"/>
                </a:solidFill>
                <a:latin typeface="Arial" pitchFamily="34" charset="0"/>
                <a:ea typeface="Arial" pitchFamily="34" charset="-122"/>
                <a:cs typeface="Arial" pitchFamily="34" charset="-120"/>
              </a:rPr>
              <a:t>Inter 700</a:t>
            </a:r>
            <a:endParaRPr lang="en-US" sz="2000" dirty="0"/>
          </a:p>
        </p:txBody>
      </p:sp>
      <p:sp>
        <p:nvSpPr>
          <p:cNvPr id="9" name="Text 7"/>
          <p:cNvSpPr/>
          <p:nvPr/>
        </p:nvSpPr>
        <p:spPr>
          <a:xfrm>
            <a:off x="4480560" y="2898648"/>
            <a:ext cx="4114800" cy="457200"/>
          </a:xfrm>
          <a:prstGeom prst="rect">
            <a:avLst/>
          </a:prstGeom>
          <a:noFill/>
          <a:ln/>
        </p:spPr>
        <p:txBody>
          <a:bodyPr wrap="square" rtlCol="0" anchor="ctr"/>
          <a:lstStyle/>
          <a:p>
            <a:pPr marL="0" indent="0">
              <a:buNone/>
            </a:pPr>
            <a:r>
              <a:rPr lang="en-US" sz="1100" dirty="0">
                <a:solidFill>
                  <a:srgbClr val="6C7A8A"/>
                </a:solidFill>
                <a:latin typeface="Arial" pitchFamily="34" charset="0"/>
                <a:ea typeface="Arial" pitchFamily="34" charset="-122"/>
                <a:cs typeface="Arial" pitchFamily="34" charset="-120"/>
              </a:rPr>
              <a:t>Subheadings, navigation</a:t>
            </a:r>
            <a:endParaRPr lang="en-US" sz="1100" dirty="0"/>
          </a:p>
        </p:txBody>
      </p:sp>
      <p:sp>
        <p:nvSpPr>
          <p:cNvPr id="10" name="Text 8"/>
          <p:cNvSpPr/>
          <p:nvPr/>
        </p:nvSpPr>
        <p:spPr>
          <a:xfrm>
            <a:off x="548640" y="3465576"/>
            <a:ext cx="3840480" cy="457200"/>
          </a:xfrm>
          <a:prstGeom prst="rect">
            <a:avLst/>
          </a:prstGeom>
          <a:noFill/>
          <a:ln/>
        </p:spPr>
        <p:txBody>
          <a:bodyPr wrap="square" rtlCol="0" anchor="ctr"/>
          <a:lstStyle/>
          <a:p>
            <a:pPr marL="0" indent="0">
              <a:buNone/>
            </a:pPr>
            <a:r>
              <a:rPr lang="en-US" sz="1600" b="1" dirty="0">
                <a:solidFill>
                  <a:srgbClr val="1A2A3A"/>
                </a:solidFill>
                <a:latin typeface="Arial" pitchFamily="34" charset="0"/>
                <a:ea typeface="Arial" pitchFamily="34" charset="-122"/>
                <a:cs typeface="Arial" pitchFamily="34" charset="-120"/>
              </a:rPr>
              <a:t>Inter 600</a:t>
            </a:r>
            <a:endParaRPr lang="en-US" sz="1600" dirty="0"/>
          </a:p>
        </p:txBody>
      </p:sp>
      <p:sp>
        <p:nvSpPr>
          <p:cNvPr id="11" name="Text 9"/>
          <p:cNvSpPr/>
          <p:nvPr/>
        </p:nvSpPr>
        <p:spPr>
          <a:xfrm>
            <a:off x="4480560" y="3465576"/>
            <a:ext cx="4114800" cy="457200"/>
          </a:xfrm>
          <a:prstGeom prst="rect">
            <a:avLst/>
          </a:prstGeom>
          <a:noFill/>
          <a:ln/>
        </p:spPr>
        <p:txBody>
          <a:bodyPr wrap="square" rtlCol="0" anchor="ctr"/>
          <a:lstStyle/>
          <a:p>
            <a:pPr marL="0" indent="0">
              <a:buNone/>
            </a:pPr>
            <a:r>
              <a:rPr lang="en-US" sz="1100" dirty="0">
                <a:solidFill>
                  <a:srgbClr val="6C7A8A"/>
                </a:solidFill>
                <a:latin typeface="Arial" pitchFamily="34" charset="0"/>
                <a:ea typeface="Arial" pitchFamily="34" charset="-122"/>
                <a:cs typeface="Arial" pitchFamily="34" charset="-120"/>
              </a:rPr>
              <a:t>Card titles, buttons</a:t>
            </a:r>
            <a:endParaRPr lang="en-US" sz="1100" dirty="0"/>
          </a:p>
        </p:txBody>
      </p:sp>
      <p:sp>
        <p:nvSpPr>
          <p:cNvPr id="12" name="Text 10"/>
          <p:cNvSpPr/>
          <p:nvPr/>
        </p:nvSpPr>
        <p:spPr>
          <a:xfrm>
            <a:off x="548640" y="4032504"/>
            <a:ext cx="3840480" cy="457200"/>
          </a:xfrm>
          <a:prstGeom prst="rect">
            <a:avLst/>
          </a:prstGeom>
          <a:noFill/>
          <a:ln/>
        </p:spPr>
        <p:txBody>
          <a:bodyPr wrap="square" rtlCol="0" anchor="ctr"/>
          <a:lstStyle/>
          <a:p>
            <a:pPr marL="0" indent="0">
              <a:buNone/>
            </a:pPr>
            <a:r>
              <a:rPr lang="en-US" sz="1300" dirty="0">
                <a:solidFill>
                  <a:srgbClr val="1A2A3A"/>
                </a:solidFill>
                <a:latin typeface="Arial" pitchFamily="34" charset="0"/>
                <a:ea typeface="Arial" pitchFamily="34" charset="-122"/>
                <a:cs typeface="Arial" pitchFamily="34" charset="-120"/>
              </a:rPr>
              <a:t>Inter 400</a:t>
            </a:r>
            <a:endParaRPr lang="en-US" sz="1300" dirty="0"/>
          </a:p>
        </p:txBody>
      </p:sp>
      <p:sp>
        <p:nvSpPr>
          <p:cNvPr id="13" name="Text 11"/>
          <p:cNvSpPr/>
          <p:nvPr/>
        </p:nvSpPr>
        <p:spPr>
          <a:xfrm>
            <a:off x="4480560" y="4032504"/>
            <a:ext cx="4114800" cy="457200"/>
          </a:xfrm>
          <a:prstGeom prst="rect">
            <a:avLst/>
          </a:prstGeom>
          <a:noFill/>
          <a:ln/>
        </p:spPr>
        <p:txBody>
          <a:bodyPr wrap="square" rtlCol="0" anchor="ctr"/>
          <a:lstStyle/>
          <a:p>
            <a:pPr marL="0" indent="0">
              <a:buNone/>
            </a:pPr>
            <a:r>
              <a:rPr lang="en-US" sz="1100" dirty="0">
                <a:solidFill>
                  <a:srgbClr val="6C7A8A"/>
                </a:solidFill>
                <a:latin typeface="Arial" pitchFamily="34" charset="0"/>
                <a:ea typeface="Arial" pitchFamily="34" charset="-122"/>
                <a:cs typeface="Arial" pitchFamily="34" charset="-120"/>
              </a:rPr>
              <a:t>Body text, paragraphs</a:t>
            </a:r>
            <a:endParaRPr lang="en-US" sz="1100" dirty="0"/>
          </a:p>
        </p:txBody>
      </p:sp>
      <p:sp>
        <p:nvSpPr>
          <p:cNvPr id="14" name="Text 12"/>
          <p:cNvSpPr/>
          <p:nvPr/>
        </p:nvSpPr>
        <p:spPr>
          <a:xfrm>
            <a:off x="8869680" y="1417320"/>
            <a:ext cx="2743200" cy="274320"/>
          </a:xfrm>
          <a:prstGeom prst="rect">
            <a:avLst/>
          </a:prstGeom>
          <a:noFill/>
          <a:ln/>
        </p:spPr>
        <p:txBody>
          <a:bodyPr wrap="square" rtlCol="0" anchor="ctr"/>
          <a:lstStyle/>
          <a:p>
            <a:pPr marL="0" indent="0">
              <a:buNone/>
            </a:pPr>
            <a:r>
              <a:rPr lang="en-US" sz="1100" b="1" kern="0" spc="100" dirty="0">
                <a:solidFill>
                  <a:srgbClr val="0B8C3F"/>
                </a:solidFill>
                <a:latin typeface="Arial" pitchFamily="34" charset="0"/>
                <a:ea typeface="Arial" pitchFamily="34" charset="-122"/>
                <a:cs typeface="Arial" pitchFamily="34" charset="-120"/>
              </a:rPr>
              <a:t>WEB SIZES</a:t>
            </a:r>
            <a:endParaRPr lang="en-US" sz="1100" dirty="0"/>
          </a:p>
        </p:txBody>
      </p:sp>
      <p:graphicFrame>
        <p:nvGraphicFramePr>
          <p:cNvPr id="17" name="Table 0"/>
          <p:cNvGraphicFramePr>
            <a:graphicFrameLocks noGrp="1"/>
          </p:cNvGraphicFramePr>
          <p:nvPr/>
        </p:nvGraphicFramePr>
        <p:xfrm>
          <a:off x="8869680" y="1737360"/>
          <a:ext cx="2788920" cy="2304288"/>
        </p:xfrm>
        <a:graphic>
          <a:graphicData uri="http://schemas.openxmlformats.org/drawingml/2006/table">
            <a:tbl>
              <a:tblPr/>
              <a:tblGrid>
                <a:gridCol w="1463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384048">
                <a:tc>
                  <a:txBody>
                    <a:bodyPr/>
                    <a:lstStyle/>
                    <a:p>
                      <a:pPr marL="0" indent="0">
                        <a:buNone/>
                      </a:pPr>
                      <a:r>
                        <a:rPr lang="en-US" sz="950" b="1" dirty="0">
                          <a:solidFill>
                            <a:srgbClr val="FFFFFF"/>
                          </a:solidFill>
                          <a:latin typeface="Arial" pitchFamily="34" charset="0"/>
                          <a:ea typeface="Arial" pitchFamily="34" charset="-122"/>
                          <a:cs typeface="Arial" pitchFamily="34" charset="-120"/>
                        </a:rPr>
                        <a:t>Element</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Size / Wt</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extLst>
                  <a:ext uri="{0D108BD9-81ED-4DB2-BD59-A6C34878D82A}">
                    <a16:rowId xmlns:a16="http://schemas.microsoft.com/office/drawing/2014/main" val="10000"/>
                  </a:ext>
                </a:extLst>
              </a:tr>
              <a:tr h="384048">
                <a:tc>
                  <a:txBody>
                    <a:bodyPr/>
                    <a:lstStyle/>
                    <a:p>
                      <a:pPr marL="0" indent="0">
                        <a:buNone/>
                      </a:pPr>
                      <a:r>
                        <a:rPr lang="en-US" sz="950" dirty="0">
                          <a:solidFill>
                            <a:srgbClr val="1A2A3A"/>
                          </a:solidFill>
                          <a:latin typeface="Arial" pitchFamily="34" charset="0"/>
                          <a:ea typeface="Arial" pitchFamily="34" charset="-122"/>
                          <a:cs typeface="Arial" pitchFamily="34" charset="-120"/>
                        </a:rPr>
                        <a:t>Hero Headline</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A2A3A"/>
                          </a:solidFill>
                          <a:latin typeface="Arial" pitchFamily="34" charset="0"/>
                          <a:ea typeface="Arial" pitchFamily="34" charset="-122"/>
                          <a:cs typeface="Arial" pitchFamily="34" charset="-120"/>
                        </a:rPr>
                        <a:t>54px / 800</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50" dirty="0">
                          <a:solidFill>
                            <a:srgbClr val="1A2A3A"/>
                          </a:solidFill>
                          <a:latin typeface="Arial" pitchFamily="34" charset="0"/>
                          <a:ea typeface="Arial" pitchFamily="34" charset="-122"/>
                          <a:cs typeface="Arial" pitchFamily="34" charset="-120"/>
                        </a:rPr>
                        <a:t>Section Title</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A2A3A"/>
                          </a:solidFill>
                          <a:latin typeface="Arial" pitchFamily="34" charset="0"/>
                          <a:ea typeface="Arial" pitchFamily="34" charset="-122"/>
                          <a:cs typeface="Arial" pitchFamily="34" charset="-120"/>
                        </a:rPr>
                        <a:t>38px / 800</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50" dirty="0">
                          <a:solidFill>
                            <a:srgbClr val="1A2A3A"/>
                          </a:solidFill>
                          <a:latin typeface="Arial" pitchFamily="34" charset="0"/>
                          <a:ea typeface="Arial" pitchFamily="34" charset="-122"/>
                          <a:cs typeface="Arial" pitchFamily="34" charset="-120"/>
                        </a:rPr>
                        <a:t>Plan Price</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A2A3A"/>
                          </a:solidFill>
                          <a:latin typeface="Arial" pitchFamily="34" charset="0"/>
                          <a:ea typeface="Arial" pitchFamily="34" charset="-122"/>
                          <a:cs typeface="Arial" pitchFamily="34" charset="-120"/>
                        </a:rPr>
                        <a:t>45px / 800</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50" dirty="0">
                          <a:solidFill>
                            <a:srgbClr val="1A2A3A"/>
                          </a:solidFill>
                          <a:latin typeface="Arial" pitchFamily="34" charset="0"/>
                          <a:ea typeface="Arial" pitchFamily="34" charset="-122"/>
                          <a:cs typeface="Arial" pitchFamily="34" charset="-120"/>
                        </a:rPr>
                        <a:t>Body Text</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A2A3A"/>
                          </a:solidFill>
                          <a:latin typeface="Arial" pitchFamily="34" charset="0"/>
                          <a:ea typeface="Arial" pitchFamily="34" charset="-122"/>
                          <a:cs typeface="Arial" pitchFamily="34" charset="-120"/>
                        </a:rPr>
                        <a:t>16px / 400</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50" dirty="0">
                          <a:solidFill>
                            <a:srgbClr val="1A2A3A"/>
                          </a:solidFill>
                          <a:latin typeface="Arial" pitchFamily="34" charset="0"/>
                          <a:ea typeface="Arial" pitchFamily="34" charset="-122"/>
                          <a:cs typeface="Arial" pitchFamily="34" charset="-120"/>
                        </a:rPr>
                        <a:t>Small Text</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1A2A3A"/>
                          </a:solidFill>
                          <a:latin typeface="Arial" pitchFamily="34" charset="0"/>
                          <a:ea typeface="Arial" pitchFamily="34" charset="-122"/>
                          <a:cs typeface="Arial" pitchFamily="34" charset="-120"/>
                        </a:rPr>
                        <a:t>14px / 400</a:t>
                      </a:r>
                      <a:endParaRPr lang="en-US" sz="9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 13"/>
          <p:cNvSpPr/>
          <p:nvPr/>
        </p:nvSpPr>
        <p:spPr>
          <a:xfrm>
            <a:off x="548640" y="4617720"/>
            <a:ext cx="2743200" cy="274320"/>
          </a:xfrm>
          <a:prstGeom prst="rect">
            <a:avLst/>
          </a:prstGeom>
          <a:noFill/>
          <a:ln/>
        </p:spPr>
        <p:txBody>
          <a:bodyPr wrap="square" rtlCol="0" anchor="ctr"/>
          <a:lstStyle/>
          <a:p>
            <a:pPr marL="0" indent="0">
              <a:buNone/>
            </a:pPr>
            <a:r>
              <a:rPr lang="en-US" sz="1100" b="1" kern="0" spc="100" dirty="0">
                <a:solidFill>
                  <a:srgbClr val="0B8C3F"/>
                </a:solidFill>
                <a:latin typeface="Arial" pitchFamily="34" charset="0"/>
                <a:ea typeface="Arial" pitchFamily="34" charset="-122"/>
                <a:cs typeface="Arial" pitchFamily="34" charset="-120"/>
              </a:rPr>
              <a:t>PRINT SIZES</a:t>
            </a:r>
            <a:endParaRPr lang="en-US" sz="1100" dirty="0"/>
          </a:p>
        </p:txBody>
      </p:sp>
      <p:graphicFrame>
        <p:nvGraphicFramePr>
          <p:cNvPr id="15" name="Table 1"/>
          <p:cNvGraphicFramePr>
            <a:graphicFrameLocks noGrp="1"/>
          </p:cNvGraphicFramePr>
          <p:nvPr/>
        </p:nvGraphicFramePr>
        <p:xfrm>
          <a:off x="548640" y="4919472"/>
          <a:ext cx="11109960" cy="1295400"/>
        </p:xfrm>
        <a:graphic>
          <a:graphicData uri="http://schemas.openxmlformats.org/drawingml/2006/table">
            <a:tbl>
              <a:tblPr/>
              <a:tblGrid>
                <a:gridCol w="44348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237744">
                <a:tc>
                  <a:txBody>
                    <a:bodyPr/>
                    <a:lstStyle/>
                    <a:p>
                      <a:pPr marL="0" indent="0">
                        <a:buNone/>
                      </a:pPr>
                      <a:r>
                        <a:rPr lang="en-US" sz="1100" b="1" dirty="0">
                          <a:solidFill>
                            <a:srgbClr val="FFFFFF"/>
                          </a:solidFill>
                          <a:latin typeface="Arial" pitchFamily="34" charset="0"/>
                          <a:ea typeface="Arial" pitchFamily="34" charset="-122"/>
                          <a:cs typeface="Arial" pitchFamily="34" charset="-120"/>
                        </a:rPr>
                        <a:t>Element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Size</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Weight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extLst>
                  <a:ext uri="{0D108BD9-81ED-4DB2-BD59-A6C34878D82A}">
                    <a16:rowId xmlns:a16="http://schemas.microsoft.com/office/drawing/2014/main" val="10000"/>
                  </a:ext>
                </a:extLst>
              </a:tr>
              <a:tr h="237744">
                <a:tc>
                  <a:txBody>
                    <a:bodyPr/>
                    <a:lstStyle/>
                    <a:p>
                      <a:pPr marL="0" indent="0">
                        <a:buNone/>
                      </a:pPr>
                      <a:r>
                        <a:rPr lang="en-US" sz="1100" dirty="0">
                          <a:solidFill>
                            <a:srgbClr val="1A2A3A"/>
                          </a:solidFill>
                          <a:latin typeface="Arial" pitchFamily="34" charset="0"/>
                          <a:ea typeface="Arial" pitchFamily="34" charset="-122"/>
                          <a:cs typeface="Arial" pitchFamily="34" charset="-120"/>
                        </a:rPr>
                        <a:t>Headlines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24–36pt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800</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1100" dirty="0">
                          <a:solidFill>
                            <a:srgbClr val="1A2A3A"/>
                          </a:solidFill>
                          <a:latin typeface="Arial" pitchFamily="34" charset="0"/>
                          <a:ea typeface="Arial" pitchFamily="34" charset="-122"/>
                          <a:cs typeface="Arial" pitchFamily="34" charset="-120"/>
                        </a:rPr>
                        <a:t>Subheadings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16–20pt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700</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1100" dirty="0">
                          <a:solidFill>
                            <a:srgbClr val="1A2A3A"/>
                          </a:solidFill>
                          <a:latin typeface="Arial" pitchFamily="34" charset="0"/>
                          <a:ea typeface="Arial" pitchFamily="34" charset="-122"/>
                          <a:cs typeface="Arial" pitchFamily="34" charset="-120"/>
                        </a:rPr>
                        <a:t>Body</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11–12pt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1100" dirty="0">
                          <a:solidFill>
                            <a:srgbClr val="1A2A3A"/>
                          </a:solidFill>
                          <a:latin typeface="Arial" pitchFamily="34" charset="0"/>
                          <a:ea typeface="Arial" pitchFamily="34" charset="-122"/>
                          <a:cs typeface="Arial" pitchFamily="34" charset="-120"/>
                        </a:rPr>
                        <a:t>Small Print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8–9pt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Shape 14"/>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19"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20" name="Text 15"/>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Tone of Voice</a:t>
            </a:r>
            <a:endParaRPr lang="en-US" sz="3000" dirty="0"/>
          </a:p>
        </p:txBody>
      </p:sp>
      <p:sp>
        <p:nvSpPr>
          <p:cNvPr id="4" name="Shape 2"/>
          <p:cNvSpPr/>
          <p:nvPr/>
        </p:nvSpPr>
        <p:spPr>
          <a:xfrm>
            <a:off x="548640" y="1554480"/>
            <a:ext cx="5349240" cy="2148840"/>
          </a:xfrm>
          <a:prstGeom prst="roundRect">
            <a:avLst>
              <a:gd name="adj" fmla="val 340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5" name="Shape 3"/>
          <p:cNvSpPr/>
          <p:nvPr/>
        </p:nvSpPr>
        <p:spPr>
          <a:xfrm>
            <a:off x="804672" y="1792224"/>
            <a:ext cx="1371600" cy="365760"/>
          </a:xfrm>
          <a:prstGeom prst="roundRect">
            <a:avLst>
              <a:gd name="adj" fmla="val 50000"/>
            </a:avLst>
          </a:prstGeom>
          <a:solidFill>
            <a:srgbClr val="0B8C3F"/>
          </a:solidFill>
          <a:ln/>
        </p:spPr>
        <p:txBody>
          <a:bodyPr/>
          <a:lstStyle/>
          <a:p>
            <a:endParaRPr lang="en-ZA"/>
          </a:p>
        </p:txBody>
      </p:sp>
      <p:sp>
        <p:nvSpPr>
          <p:cNvPr id="6" name="Text 4"/>
          <p:cNvSpPr/>
          <p:nvPr/>
        </p:nvSpPr>
        <p:spPr>
          <a:xfrm>
            <a:off x="804672" y="1792224"/>
            <a:ext cx="1371600" cy="3657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WARM</a:t>
            </a:r>
            <a:endParaRPr lang="en-US" sz="1100" dirty="0"/>
          </a:p>
        </p:txBody>
      </p:sp>
      <p:sp>
        <p:nvSpPr>
          <p:cNvPr id="7" name="Text 5"/>
          <p:cNvSpPr/>
          <p:nvPr/>
        </p:nvSpPr>
        <p:spPr>
          <a:xfrm>
            <a:off x="804672" y="2286000"/>
            <a:ext cx="4837176" cy="45720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We speak like neighbours, not corporations.</a:t>
            </a:r>
            <a:endParaRPr lang="en-US" sz="1200" dirty="0"/>
          </a:p>
        </p:txBody>
      </p:sp>
      <p:sp>
        <p:nvSpPr>
          <p:cNvPr id="8" name="Text 6"/>
          <p:cNvSpPr/>
          <p:nvPr/>
        </p:nvSpPr>
        <p:spPr>
          <a:xfrm>
            <a:off x="804672" y="2834640"/>
            <a:ext cx="4837176" cy="731520"/>
          </a:xfrm>
          <a:prstGeom prst="rect">
            <a:avLst/>
          </a:prstGeom>
          <a:noFill/>
          <a:ln/>
        </p:spPr>
        <p:txBody>
          <a:bodyPr wrap="square" rtlCol="0" anchor="t"/>
          <a:lstStyle/>
          <a:p>
            <a:pPr marL="0" indent="0">
              <a:lnSpc>
                <a:spcPct val="115000"/>
              </a:lnSpc>
              <a:buNone/>
            </a:pPr>
            <a:r>
              <a:rPr lang="en-US" sz="1200" i="1" dirty="0">
                <a:solidFill>
                  <a:srgbClr val="1A2A3A"/>
                </a:solidFill>
                <a:latin typeface="Arial" pitchFamily="34" charset="0"/>
                <a:ea typeface="Arial" pitchFamily="34" charset="-122"/>
                <a:cs typeface="Arial" pitchFamily="34" charset="-120"/>
              </a:rPr>
              <a:t>“Sisi/bhuti, we're starting something for our community.”</a:t>
            </a:r>
            <a:endParaRPr lang="en-US" sz="1200" dirty="0"/>
          </a:p>
        </p:txBody>
      </p:sp>
      <p:sp>
        <p:nvSpPr>
          <p:cNvPr id="9" name="Shape 7"/>
          <p:cNvSpPr/>
          <p:nvPr/>
        </p:nvSpPr>
        <p:spPr>
          <a:xfrm>
            <a:off x="6263640" y="1554480"/>
            <a:ext cx="5349240" cy="2148840"/>
          </a:xfrm>
          <a:prstGeom prst="roundRect">
            <a:avLst>
              <a:gd name="adj" fmla="val 340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10" name="Shape 8"/>
          <p:cNvSpPr/>
          <p:nvPr/>
        </p:nvSpPr>
        <p:spPr>
          <a:xfrm>
            <a:off x="6519672" y="1792224"/>
            <a:ext cx="1371600" cy="365760"/>
          </a:xfrm>
          <a:prstGeom prst="roundRect">
            <a:avLst>
              <a:gd name="adj" fmla="val 50000"/>
            </a:avLst>
          </a:prstGeom>
          <a:solidFill>
            <a:srgbClr val="F5B342"/>
          </a:solidFill>
          <a:ln/>
        </p:spPr>
        <p:txBody>
          <a:bodyPr/>
          <a:lstStyle/>
          <a:p>
            <a:endParaRPr lang="en-ZA"/>
          </a:p>
        </p:txBody>
      </p:sp>
      <p:sp>
        <p:nvSpPr>
          <p:cNvPr id="11" name="Text 9"/>
          <p:cNvSpPr/>
          <p:nvPr/>
        </p:nvSpPr>
        <p:spPr>
          <a:xfrm>
            <a:off x="6519672" y="1792224"/>
            <a:ext cx="1371600" cy="365760"/>
          </a:xfrm>
          <a:prstGeom prst="rect">
            <a:avLst/>
          </a:prstGeom>
          <a:noFill/>
          <a:ln/>
        </p:spPr>
        <p:txBody>
          <a:bodyPr wrap="square" rtlCol="0" anchor="ctr"/>
          <a:lstStyle/>
          <a:p>
            <a:pPr marL="0" indent="0" algn="ctr">
              <a:buNone/>
            </a:pPr>
            <a:r>
              <a:rPr lang="en-US" sz="1100" b="1" dirty="0">
                <a:solidFill>
                  <a:srgbClr val="1A2A3A"/>
                </a:solidFill>
                <a:latin typeface="Arial" pitchFamily="34" charset="0"/>
                <a:ea typeface="Arial" pitchFamily="34" charset="-122"/>
                <a:cs typeface="Arial" pitchFamily="34" charset="-120"/>
              </a:rPr>
              <a:t>CLEAR</a:t>
            </a:r>
            <a:endParaRPr lang="en-US" sz="1100" dirty="0"/>
          </a:p>
        </p:txBody>
      </p:sp>
      <p:sp>
        <p:nvSpPr>
          <p:cNvPr id="12" name="Text 10"/>
          <p:cNvSpPr/>
          <p:nvPr/>
        </p:nvSpPr>
        <p:spPr>
          <a:xfrm>
            <a:off x="6519672" y="2286000"/>
            <a:ext cx="4837176" cy="45720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No jargon, no fine print.</a:t>
            </a:r>
            <a:endParaRPr lang="en-US" sz="1200" dirty="0"/>
          </a:p>
        </p:txBody>
      </p:sp>
      <p:sp>
        <p:nvSpPr>
          <p:cNvPr id="13" name="Text 11"/>
          <p:cNvSpPr/>
          <p:nvPr/>
        </p:nvSpPr>
        <p:spPr>
          <a:xfrm>
            <a:off x="6519672" y="2834640"/>
            <a:ext cx="4837176" cy="731520"/>
          </a:xfrm>
          <a:prstGeom prst="rect">
            <a:avLst/>
          </a:prstGeom>
          <a:noFill/>
          <a:ln/>
        </p:spPr>
        <p:txBody>
          <a:bodyPr wrap="square" rtlCol="0" anchor="t"/>
          <a:lstStyle/>
          <a:p>
            <a:pPr marL="0" indent="0">
              <a:lnSpc>
                <a:spcPct val="115000"/>
              </a:lnSpc>
              <a:buNone/>
            </a:pPr>
            <a:r>
              <a:rPr lang="en-US" sz="1200" i="1" dirty="0">
                <a:solidFill>
                  <a:srgbClr val="1A2A3A"/>
                </a:solidFill>
                <a:latin typeface="Arial" pitchFamily="34" charset="0"/>
                <a:ea typeface="Arial" pitchFamily="34" charset="-122"/>
                <a:cs typeface="Arial" pitchFamily="34" charset="-120"/>
              </a:rPr>
              <a:t>“R399/month. 10 Mbps. Truly unlimited.”</a:t>
            </a:r>
            <a:endParaRPr lang="en-US" sz="1200" dirty="0"/>
          </a:p>
        </p:txBody>
      </p:sp>
      <p:sp>
        <p:nvSpPr>
          <p:cNvPr id="14" name="Shape 12"/>
          <p:cNvSpPr/>
          <p:nvPr/>
        </p:nvSpPr>
        <p:spPr>
          <a:xfrm>
            <a:off x="548640" y="3977640"/>
            <a:ext cx="5349240" cy="2148840"/>
          </a:xfrm>
          <a:prstGeom prst="roundRect">
            <a:avLst>
              <a:gd name="adj" fmla="val 340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15" name="Shape 13"/>
          <p:cNvSpPr/>
          <p:nvPr/>
        </p:nvSpPr>
        <p:spPr>
          <a:xfrm>
            <a:off x="804672" y="4215384"/>
            <a:ext cx="1371600" cy="365760"/>
          </a:xfrm>
          <a:prstGeom prst="roundRect">
            <a:avLst>
              <a:gd name="adj" fmla="val 50000"/>
            </a:avLst>
          </a:prstGeom>
          <a:solidFill>
            <a:srgbClr val="0B8C3F"/>
          </a:solidFill>
          <a:ln/>
        </p:spPr>
        <p:txBody>
          <a:bodyPr/>
          <a:lstStyle/>
          <a:p>
            <a:endParaRPr lang="en-ZA"/>
          </a:p>
        </p:txBody>
      </p:sp>
      <p:sp>
        <p:nvSpPr>
          <p:cNvPr id="16" name="Text 14"/>
          <p:cNvSpPr/>
          <p:nvPr/>
        </p:nvSpPr>
        <p:spPr>
          <a:xfrm>
            <a:off x="804672" y="4215384"/>
            <a:ext cx="1371600" cy="3657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CONFIDENT</a:t>
            </a:r>
            <a:endParaRPr lang="en-US" sz="1100" dirty="0"/>
          </a:p>
        </p:txBody>
      </p:sp>
      <p:sp>
        <p:nvSpPr>
          <p:cNvPr id="17" name="Text 15"/>
          <p:cNvSpPr/>
          <p:nvPr/>
        </p:nvSpPr>
        <p:spPr>
          <a:xfrm>
            <a:off x="804672" y="4709160"/>
            <a:ext cx="4837176" cy="45720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We know our value.</a:t>
            </a:r>
            <a:endParaRPr lang="en-US" sz="1200" dirty="0"/>
          </a:p>
        </p:txBody>
      </p:sp>
      <p:sp>
        <p:nvSpPr>
          <p:cNvPr id="18" name="Text 16"/>
          <p:cNvSpPr/>
          <p:nvPr/>
        </p:nvSpPr>
        <p:spPr>
          <a:xfrm>
            <a:off x="804672" y="5257800"/>
            <a:ext cx="4837176" cy="731520"/>
          </a:xfrm>
          <a:prstGeom prst="rect">
            <a:avLst/>
          </a:prstGeom>
          <a:noFill/>
          <a:ln/>
        </p:spPr>
        <p:txBody>
          <a:bodyPr wrap="square" rtlCol="0" anchor="t"/>
          <a:lstStyle/>
          <a:p>
            <a:pPr marL="0" indent="0">
              <a:lnSpc>
                <a:spcPct val="115000"/>
              </a:lnSpc>
              <a:buNone/>
            </a:pPr>
            <a:r>
              <a:rPr lang="en-US" sz="1200" i="1" dirty="0">
                <a:solidFill>
                  <a:srgbClr val="1A2A3A"/>
                </a:solidFill>
                <a:latin typeface="Arial" pitchFamily="34" charset="0"/>
                <a:ea typeface="Arial" pitchFamily="34" charset="-122"/>
                <a:cs typeface="Arial" pitchFamily="34" charset="-120"/>
              </a:rPr>
              <a:t>“Internet for the price of your DStv.”</a:t>
            </a:r>
            <a:endParaRPr lang="en-US" sz="1200" dirty="0"/>
          </a:p>
        </p:txBody>
      </p:sp>
      <p:sp>
        <p:nvSpPr>
          <p:cNvPr id="19" name="Shape 17"/>
          <p:cNvSpPr/>
          <p:nvPr/>
        </p:nvSpPr>
        <p:spPr>
          <a:xfrm>
            <a:off x="6263640" y="3977640"/>
            <a:ext cx="5349240" cy="2148840"/>
          </a:xfrm>
          <a:prstGeom prst="roundRect">
            <a:avLst>
              <a:gd name="adj" fmla="val 3404"/>
            </a:avLst>
          </a:prstGeom>
          <a:solidFill>
            <a:srgbClr val="FFFFFF"/>
          </a:solidFill>
          <a:ln w="12700">
            <a:solidFill>
              <a:srgbClr val="E2E8F0"/>
            </a:solidFill>
            <a:prstDash val="solid"/>
          </a:ln>
          <a:effectLst>
            <a:outerShdw blurRad="76200" dist="25400" dir="5400000" algn="bl" rotWithShape="0">
              <a:srgbClr val="1A2A3A">
                <a:alpha val="9000"/>
              </a:srgbClr>
            </a:outerShdw>
          </a:effectLst>
        </p:spPr>
        <p:txBody>
          <a:bodyPr/>
          <a:lstStyle/>
          <a:p>
            <a:endParaRPr lang="en-ZA"/>
          </a:p>
        </p:txBody>
      </p:sp>
      <p:sp>
        <p:nvSpPr>
          <p:cNvPr id="20" name="Shape 18"/>
          <p:cNvSpPr/>
          <p:nvPr/>
        </p:nvSpPr>
        <p:spPr>
          <a:xfrm>
            <a:off x="6519672" y="4215384"/>
            <a:ext cx="1371600" cy="365760"/>
          </a:xfrm>
          <a:prstGeom prst="roundRect">
            <a:avLst>
              <a:gd name="adj" fmla="val 50000"/>
            </a:avLst>
          </a:prstGeom>
          <a:solidFill>
            <a:srgbClr val="F5B342"/>
          </a:solidFill>
          <a:ln/>
        </p:spPr>
        <p:txBody>
          <a:bodyPr/>
          <a:lstStyle/>
          <a:p>
            <a:endParaRPr lang="en-ZA"/>
          </a:p>
        </p:txBody>
      </p:sp>
      <p:sp>
        <p:nvSpPr>
          <p:cNvPr id="21" name="Text 19"/>
          <p:cNvSpPr/>
          <p:nvPr/>
        </p:nvSpPr>
        <p:spPr>
          <a:xfrm>
            <a:off x="6519672" y="4215384"/>
            <a:ext cx="1371600" cy="365760"/>
          </a:xfrm>
          <a:prstGeom prst="rect">
            <a:avLst/>
          </a:prstGeom>
          <a:noFill/>
          <a:ln/>
        </p:spPr>
        <p:txBody>
          <a:bodyPr wrap="square" rtlCol="0" anchor="ctr"/>
          <a:lstStyle/>
          <a:p>
            <a:pPr marL="0" indent="0" algn="ctr">
              <a:buNone/>
            </a:pPr>
            <a:r>
              <a:rPr lang="en-US" sz="1100" b="1" dirty="0">
                <a:solidFill>
                  <a:srgbClr val="1A2A3A"/>
                </a:solidFill>
                <a:latin typeface="Arial" pitchFamily="34" charset="0"/>
                <a:ea typeface="Arial" pitchFamily="34" charset="-122"/>
                <a:cs typeface="Arial" pitchFamily="34" charset="-120"/>
              </a:rPr>
              <a:t>EMPOWERING</a:t>
            </a:r>
            <a:endParaRPr lang="en-US" sz="1100" dirty="0"/>
          </a:p>
        </p:txBody>
      </p:sp>
      <p:sp>
        <p:nvSpPr>
          <p:cNvPr id="22" name="Text 20"/>
          <p:cNvSpPr/>
          <p:nvPr/>
        </p:nvSpPr>
        <p:spPr>
          <a:xfrm>
            <a:off x="6519672" y="4709160"/>
            <a:ext cx="4837176" cy="457200"/>
          </a:xfrm>
          <a:prstGeom prst="rect">
            <a:avLst/>
          </a:prstGeom>
          <a:noFill/>
          <a:ln/>
        </p:spPr>
        <p:txBody>
          <a:bodyPr wrap="square" rtlCol="0" anchor="t"/>
          <a:lstStyle/>
          <a:p>
            <a:pPr marL="0" indent="0">
              <a:buNone/>
            </a:pPr>
            <a:r>
              <a:rPr lang="en-US" sz="1200" dirty="0">
                <a:solidFill>
                  <a:srgbClr val="6C7A8A"/>
                </a:solidFill>
                <a:latin typeface="Arial" pitchFamily="34" charset="0"/>
                <a:ea typeface="Arial" pitchFamily="34" charset="-122"/>
                <a:cs typeface="Arial" pitchFamily="34" charset="-120"/>
              </a:rPr>
              <a:t>We focus on what internet enables.</a:t>
            </a:r>
            <a:endParaRPr lang="en-US" sz="1200" dirty="0"/>
          </a:p>
        </p:txBody>
      </p:sp>
      <p:sp>
        <p:nvSpPr>
          <p:cNvPr id="23" name="Text 21"/>
          <p:cNvSpPr/>
          <p:nvPr/>
        </p:nvSpPr>
        <p:spPr>
          <a:xfrm>
            <a:off x="6519672" y="5257800"/>
            <a:ext cx="4837176" cy="731520"/>
          </a:xfrm>
          <a:prstGeom prst="rect">
            <a:avLst/>
          </a:prstGeom>
          <a:noFill/>
          <a:ln/>
        </p:spPr>
        <p:txBody>
          <a:bodyPr wrap="square" rtlCol="0" anchor="t"/>
          <a:lstStyle/>
          <a:p>
            <a:pPr marL="0" indent="0">
              <a:lnSpc>
                <a:spcPct val="115000"/>
              </a:lnSpc>
              <a:buNone/>
            </a:pPr>
            <a:r>
              <a:rPr lang="en-US" sz="1200" i="1" dirty="0">
                <a:solidFill>
                  <a:srgbClr val="1A2A3A"/>
                </a:solidFill>
                <a:latin typeface="Arial" pitchFamily="34" charset="0"/>
                <a:ea typeface="Arial" pitchFamily="34" charset="-122"/>
                <a:cs typeface="Arial" pitchFamily="34" charset="-120"/>
              </a:rPr>
              <a:t>“Your children can do school research. You can run your business.”</a:t>
            </a:r>
            <a:endParaRPr lang="en-US" sz="1200" dirty="0"/>
          </a:p>
        </p:txBody>
      </p:sp>
      <p:sp>
        <p:nvSpPr>
          <p:cNvPr id="24" name="Shape 22"/>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25"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26" name="Text 23"/>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What to Say (and Not Say)</a:t>
            </a:r>
            <a:endParaRPr lang="en-US" sz="3000" dirty="0"/>
          </a:p>
        </p:txBody>
      </p:sp>
      <p:graphicFrame>
        <p:nvGraphicFramePr>
          <p:cNvPr id="10" name="Table 0"/>
          <p:cNvGraphicFramePr>
            <a:graphicFrameLocks noGrp="1"/>
          </p:cNvGraphicFramePr>
          <p:nvPr/>
        </p:nvGraphicFramePr>
        <p:xfrm>
          <a:off x="548640" y="1600200"/>
          <a:ext cx="11109960" cy="4480560"/>
        </p:xfrm>
        <a:graphic>
          <a:graphicData uri="http://schemas.openxmlformats.org/drawingml/2006/table">
            <a:tbl>
              <a:tblPr/>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Arial" pitchFamily="34" charset="0"/>
                          <a:ea typeface="Arial" pitchFamily="34" charset="-122"/>
                          <a:cs typeface="Arial" pitchFamily="34" charset="-120"/>
                        </a:rPr>
                        <a:t>Situation</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 Say</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 Don't Say</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1005840">
                <a:tc>
                  <a:txBody>
                    <a:bodyPr/>
                    <a:lstStyle/>
                    <a:p>
                      <a:pPr marL="0" indent="0">
                        <a:buNone/>
                      </a:pPr>
                      <a:r>
                        <a:rPr lang="en-US" sz="1100" dirty="0">
                          <a:solidFill>
                            <a:srgbClr val="1A2A3A"/>
                          </a:solidFill>
                          <a:latin typeface="Arial" pitchFamily="34" charset="0"/>
                          <a:ea typeface="Arial" pitchFamily="34" charset="-122"/>
                          <a:cs typeface="Arial" pitchFamily="34" charset="-120"/>
                        </a:rPr>
                        <a:t>Explaining the offer</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“Pay R50 now to secure your spot. We deduct it from your first bill.”</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“Please remit a R50 deposit to secure your pre-registration.”</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1005840">
                <a:tc>
                  <a:txBody>
                    <a:bodyPr/>
                    <a:lstStyle/>
                    <a:p>
                      <a:pPr marL="0" indent="0">
                        <a:buNone/>
                      </a:pPr>
                      <a:r>
                        <a:rPr lang="en-US" sz="1100" dirty="0">
                          <a:solidFill>
                            <a:srgbClr val="1A2A3A"/>
                          </a:solidFill>
                          <a:latin typeface="Arial" pitchFamily="34" charset="0"/>
                          <a:ea typeface="Arial" pitchFamily="34" charset="-122"/>
                          <a:cs typeface="Arial" pitchFamily="34" charset="-120"/>
                        </a:rPr>
                        <a:t>Describing the service</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“Truly unlimited. No hidden fair-usage policies.”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“Our service provides unlimited data subject to our fair usage policy.”</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1005840">
                <a:tc>
                  <a:txBody>
                    <a:bodyPr/>
                    <a:lstStyle/>
                    <a:p>
                      <a:pPr marL="0" indent="0">
                        <a:buNone/>
                      </a:pPr>
                      <a:r>
                        <a:rPr lang="en-US" sz="1100" dirty="0">
                          <a:solidFill>
                            <a:srgbClr val="1A2A3A"/>
                          </a:solidFill>
                          <a:latin typeface="Arial" pitchFamily="34" charset="0"/>
                          <a:ea typeface="Arial" pitchFamily="34" charset="-122"/>
                          <a:cs typeface="Arial" pitchFamily="34" charset="-120"/>
                        </a:rPr>
                        <a:t>Building trust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“We're your neighbours, not a call centre in Johannesburg.”</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“We are a customer-centric organisation.”</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1005840">
                <a:tc>
                  <a:txBody>
                    <a:bodyPr/>
                    <a:lstStyle/>
                    <a:p>
                      <a:pPr marL="0" indent="0">
                        <a:buNone/>
                      </a:pPr>
                      <a:r>
                        <a:rPr lang="en-US" sz="1100" dirty="0">
                          <a:solidFill>
                            <a:srgbClr val="1A2A3A"/>
                          </a:solidFill>
                          <a:latin typeface="Arial" pitchFamily="34" charset="0"/>
                          <a:ea typeface="Arial" pitchFamily="34" charset="-122"/>
                          <a:cs typeface="Arial" pitchFamily="34" charset="-120"/>
                        </a:rPr>
                        <a:t>In isiXhosa</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“Sisi/bhuti, uncapped Wi-Fi, R399, same price as your DStv.”</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(Just speak warmly and naturally.)</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6"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7" name="Text 3"/>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BRAND APPLICATIONS</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Website &amp; Mobile App</a:t>
            </a:r>
            <a:endParaRPr lang="en-US" sz="3000" dirty="0"/>
          </a:p>
        </p:txBody>
      </p:sp>
      <p:sp>
        <p:nvSpPr>
          <p:cNvPr id="4" name="Text 2"/>
          <p:cNvSpPr/>
          <p:nvPr/>
        </p:nvSpPr>
        <p:spPr>
          <a:xfrm>
            <a:off x="548640" y="1463040"/>
            <a:ext cx="4572000" cy="274320"/>
          </a:xfrm>
          <a:prstGeom prst="rect">
            <a:avLst/>
          </a:prstGeom>
          <a:noFill/>
          <a:ln/>
        </p:spPr>
        <p:txBody>
          <a:bodyPr wrap="square" rtlCol="0" anchor="ctr"/>
          <a:lstStyle/>
          <a:p>
            <a:pPr marL="0" indent="0">
              <a:buNone/>
            </a:pPr>
            <a:r>
              <a:rPr lang="en-US" sz="1200" b="1" kern="0" spc="100" dirty="0">
                <a:solidFill>
                  <a:srgbClr val="0B8C3F"/>
                </a:solidFill>
                <a:latin typeface="Arial" pitchFamily="34" charset="0"/>
                <a:ea typeface="Arial" pitchFamily="34" charset="-122"/>
                <a:cs typeface="Arial" pitchFamily="34" charset="-120"/>
              </a:rPr>
              <a:t>WEBSITE</a:t>
            </a:r>
            <a:endParaRPr lang="en-US" sz="1200" dirty="0"/>
          </a:p>
        </p:txBody>
      </p:sp>
      <p:graphicFrame>
        <p:nvGraphicFramePr>
          <p:cNvPr id="11" name="Table 0"/>
          <p:cNvGraphicFramePr>
            <a:graphicFrameLocks noGrp="1"/>
          </p:cNvGraphicFramePr>
          <p:nvPr/>
        </p:nvGraphicFramePr>
        <p:xfrm>
          <a:off x="548640" y="1783080"/>
          <a:ext cx="5394960" cy="3291840"/>
        </p:xfrm>
        <a:graphic>
          <a:graphicData uri="http://schemas.openxmlformats.org/drawingml/2006/table">
            <a:tbl>
              <a:tblPr/>
              <a:tblGrid>
                <a:gridCol w="1554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Header</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Green navbar with white text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Logo</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Logo mark + “eKhaya Connect”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Buttons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Green primary, Gold for “Most Popular”</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Headlines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Dark text, Inter 800</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Body</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Gray text, Inter 400</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Accents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Gold for badges and highlights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6217920" y="1463040"/>
            <a:ext cx="4572000" cy="274320"/>
          </a:xfrm>
          <a:prstGeom prst="rect">
            <a:avLst/>
          </a:prstGeom>
          <a:noFill/>
          <a:ln/>
        </p:spPr>
        <p:txBody>
          <a:bodyPr wrap="square" rtlCol="0" anchor="ctr"/>
          <a:lstStyle/>
          <a:p>
            <a:pPr marL="0" indent="0">
              <a:buNone/>
            </a:pPr>
            <a:r>
              <a:rPr lang="en-US" sz="1200" b="1" kern="0" spc="100" dirty="0">
                <a:solidFill>
                  <a:srgbClr val="0B8C3F"/>
                </a:solidFill>
                <a:latin typeface="Arial" pitchFamily="34" charset="0"/>
                <a:ea typeface="Arial" pitchFamily="34" charset="-122"/>
                <a:cs typeface="Arial" pitchFamily="34" charset="-120"/>
              </a:rPr>
              <a:t>MOBILE APP</a:t>
            </a:r>
            <a:endParaRPr lang="en-US" sz="1200" dirty="0"/>
          </a:p>
        </p:txBody>
      </p:sp>
      <p:graphicFrame>
        <p:nvGraphicFramePr>
          <p:cNvPr id="21" name="Table 1"/>
          <p:cNvGraphicFramePr>
            <a:graphicFrameLocks noGrp="1"/>
          </p:cNvGraphicFramePr>
          <p:nvPr/>
        </p:nvGraphicFramePr>
        <p:xfrm>
          <a:off x="6217920" y="1783080"/>
          <a:ext cx="5394960" cy="2743200"/>
        </p:xfrm>
        <a:graphic>
          <a:graphicData uri="http://schemas.openxmlformats.org/drawingml/2006/table">
            <a:tbl>
              <a:tblPr/>
              <a:tblGrid>
                <a:gridCol w="1554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Header</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Green with white text</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Logo</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KC icon (smaller space)</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Tabs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Green active icons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Buttons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Green primary, Gold for CTA</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00" dirty="0">
                          <a:solidFill>
                            <a:srgbClr val="1A2A3A"/>
                          </a:solidFill>
                          <a:latin typeface="Arial" pitchFamily="34" charset="0"/>
                          <a:ea typeface="Arial" pitchFamily="34" charset="-122"/>
                          <a:cs typeface="Arial" pitchFamily="34" charset="-120"/>
                        </a:rPr>
                        <a:t>Cards</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A2A3A"/>
                          </a:solidFill>
                          <a:latin typeface="Arial" pitchFamily="34" charset="0"/>
                          <a:ea typeface="Arial" pitchFamily="34" charset="-122"/>
                          <a:cs typeface="Arial" pitchFamily="34" charset="-120"/>
                        </a:rPr>
                        <a:t>White with subtle shadow</a:t>
                      </a:r>
                      <a:endParaRPr lang="en-US" sz="11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4"/>
          <p:cNvSpPr/>
          <p:nvPr/>
        </p:nvSpPr>
        <p:spPr>
          <a:xfrm>
            <a:off x="548640" y="5257800"/>
            <a:ext cx="11064240" cy="822960"/>
          </a:xfrm>
          <a:prstGeom prst="roundRect">
            <a:avLst>
              <a:gd name="adj" fmla="val 8889"/>
            </a:avLst>
          </a:prstGeom>
          <a:solidFill>
            <a:srgbClr val="0B8C3F"/>
          </a:solidFill>
          <a:ln/>
        </p:spPr>
        <p:txBody>
          <a:bodyPr/>
          <a:lstStyle/>
          <a:p>
            <a:endParaRPr lang="en-ZA"/>
          </a:p>
        </p:txBody>
      </p:sp>
      <p:sp>
        <p:nvSpPr>
          <p:cNvPr id="9" name="Text 5"/>
          <p:cNvSpPr/>
          <p:nvPr/>
        </p:nvSpPr>
        <p:spPr>
          <a:xfrm>
            <a:off x="822960" y="5394960"/>
            <a:ext cx="2011680" cy="320040"/>
          </a:xfrm>
          <a:prstGeom prst="rect">
            <a:avLst/>
          </a:prstGeom>
          <a:noFill/>
          <a:ln/>
        </p:spPr>
        <p:txBody>
          <a:bodyPr wrap="square" rtlCol="0" anchor="ctr"/>
          <a:lstStyle/>
          <a:p>
            <a:pPr marL="0" indent="0">
              <a:buNone/>
            </a:pPr>
            <a:r>
              <a:rPr lang="en-US" sz="1100" b="1" dirty="0">
                <a:solidFill>
                  <a:srgbClr val="D9F2E2"/>
                </a:solidFill>
                <a:latin typeface="Arial" pitchFamily="34" charset="0"/>
                <a:ea typeface="Arial" pitchFamily="34" charset="-122"/>
                <a:cs typeface="Arial" pitchFamily="34" charset="-120"/>
              </a:rPr>
              <a:t>Live Website</a:t>
            </a:r>
            <a:endParaRPr lang="en-US" sz="1100" dirty="0"/>
          </a:p>
        </p:txBody>
      </p:sp>
      <p:sp>
        <p:nvSpPr>
          <p:cNvPr id="10" name="Text 6"/>
          <p:cNvSpPr/>
          <p:nvPr/>
        </p:nvSpPr>
        <p:spPr>
          <a:xfrm>
            <a:off x="822960" y="5669280"/>
            <a:ext cx="10515600" cy="320040"/>
          </a:xfrm>
          <a:prstGeom prst="rect">
            <a:avLst/>
          </a:prstGeom>
          <a:noFill/>
          <a:ln/>
        </p:spPr>
        <p:txBody>
          <a:bodyPr wrap="square" rtlCol="0" anchor="ctr"/>
          <a:lstStyle/>
          <a:p>
            <a:pPr marL="0" indent="0">
              <a:buNone/>
            </a:pPr>
            <a:r>
              <a:rPr lang="en-US" sz="1250" dirty="0">
                <a:solidFill>
                  <a:srgbClr val="FFFFFF"/>
                </a:solidFill>
                <a:latin typeface="Arial" pitchFamily="34" charset="0"/>
                <a:ea typeface="Arial" pitchFamily="34" charset="-122"/>
                <a:cs typeface="Arial" pitchFamily="34" charset="-120"/>
              </a:rPr>
              <a:t>https://sikhutazejoseph.github.io/khayelitsha---connect/</a:t>
            </a:r>
            <a:endParaRPr lang="en-US" sz="1250" dirty="0"/>
          </a:p>
        </p:txBody>
      </p:sp>
      <p:sp>
        <p:nvSpPr>
          <p:cNvPr id="5" name="Shape 7"/>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12"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13" name="Text 8"/>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BRAND APPLICATIONS</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Social Media &amp; Print</a:t>
            </a:r>
            <a:endParaRPr lang="en-US" sz="3000" dirty="0"/>
          </a:p>
        </p:txBody>
      </p:sp>
      <p:sp>
        <p:nvSpPr>
          <p:cNvPr id="4" name="Text 2"/>
          <p:cNvSpPr/>
          <p:nvPr/>
        </p:nvSpPr>
        <p:spPr>
          <a:xfrm>
            <a:off x="548640" y="1463040"/>
            <a:ext cx="4572000" cy="274320"/>
          </a:xfrm>
          <a:prstGeom prst="rect">
            <a:avLst/>
          </a:prstGeom>
          <a:noFill/>
          <a:ln/>
        </p:spPr>
        <p:txBody>
          <a:bodyPr wrap="square" rtlCol="0" anchor="ctr"/>
          <a:lstStyle/>
          <a:p>
            <a:pPr marL="0" indent="0">
              <a:buNone/>
            </a:pPr>
            <a:r>
              <a:rPr lang="en-US" sz="1200" b="1" kern="0" spc="100" dirty="0">
                <a:solidFill>
                  <a:srgbClr val="0B8C3F"/>
                </a:solidFill>
                <a:latin typeface="Arial" pitchFamily="34" charset="0"/>
                <a:ea typeface="Arial" pitchFamily="34" charset="-122"/>
                <a:cs typeface="Arial" pitchFamily="34" charset="-120"/>
              </a:rPr>
              <a:t>SOCIAL MEDIA</a:t>
            </a:r>
            <a:endParaRPr lang="en-US" sz="1200" dirty="0"/>
          </a:p>
        </p:txBody>
      </p:sp>
      <p:graphicFrame>
        <p:nvGraphicFramePr>
          <p:cNvPr id="12" name="Table 0"/>
          <p:cNvGraphicFramePr>
            <a:graphicFrameLocks noGrp="1"/>
          </p:cNvGraphicFramePr>
          <p:nvPr/>
        </p:nvGraphicFramePr>
        <p:xfrm>
          <a:off x="548640" y="1783080"/>
          <a:ext cx="5394960" cy="1755648"/>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38912">
                <a:tc>
                  <a:txBody>
                    <a:bodyPr/>
                    <a:lstStyle/>
                    <a:p>
                      <a:pPr marL="0" indent="0">
                        <a:buNone/>
                      </a:pPr>
                      <a:r>
                        <a:rPr lang="en-US" sz="1000" b="1" dirty="0">
                          <a:solidFill>
                            <a:srgbClr val="FFFFFF"/>
                          </a:solidFill>
                          <a:latin typeface="Arial" pitchFamily="34" charset="0"/>
                          <a:ea typeface="Arial" pitchFamily="34" charset="-122"/>
                          <a:cs typeface="Arial" pitchFamily="34" charset="-120"/>
                        </a:rPr>
                        <a:t>Platform</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Profile</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Post Style</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extLst>
                  <a:ext uri="{0D108BD9-81ED-4DB2-BD59-A6C34878D82A}">
                    <a16:rowId xmlns:a16="http://schemas.microsoft.com/office/drawing/2014/main" val="10000"/>
                  </a:ext>
                </a:extLst>
              </a:tr>
              <a:tr h="438912">
                <a:tc>
                  <a:txBody>
                    <a:bodyPr/>
                    <a:lstStyle/>
                    <a:p>
                      <a:pPr marL="0" indent="0">
                        <a:buNone/>
                      </a:pPr>
                      <a:r>
                        <a:rPr lang="en-US" sz="1000" dirty="0">
                          <a:solidFill>
                            <a:srgbClr val="1A2A3A"/>
                          </a:solidFill>
                          <a:latin typeface="Arial" pitchFamily="34" charset="0"/>
                          <a:ea typeface="Arial" pitchFamily="34" charset="-122"/>
                          <a:cs typeface="Arial" pitchFamily="34" charset="-120"/>
                        </a:rPr>
                        <a:t>Facebook</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A2A3A"/>
                          </a:solidFill>
                          <a:latin typeface="Arial" pitchFamily="34" charset="0"/>
                          <a:ea typeface="Arial" pitchFamily="34" charset="-122"/>
                          <a:cs typeface="Arial" pitchFamily="34" charset="-120"/>
                        </a:rPr>
                        <a:t>Logo icon (eK)</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A2A3A"/>
                          </a:solidFill>
                          <a:latin typeface="Arial" pitchFamily="34" charset="0"/>
                          <a:ea typeface="Arial" pitchFamily="34" charset="-122"/>
                          <a:cs typeface="Arial" pitchFamily="34" charset="-120"/>
                        </a:rPr>
                        <a:t>Green + Gold accents</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000" dirty="0">
                          <a:solidFill>
                            <a:srgbClr val="1A2A3A"/>
                          </a:solidFill>
                          <a:latin typeface="Arial" pitchFamily="34" charset="0"/>
                          <a:ea typeface="Arial" pitchFamily="34" charset="-122"/>
                          <a:cs typeface="Arial" pitchFamily="34" charset="-120"/>
                        </a:rPr>
                        <a:t>WhatsApp</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A2A3A"/>
                          </a:solidFill>
                          <a:latin typeface="Arial" pitchFamily="34" charset="0"/>
                          <a:ea typeface="Arial" pitchFamily="34" charset="-122"/>
                          <a:cs typeface="Arial" pitchFamily="34" charset="-120"/>
                        </a:rPr>
                        <a:t>Logo icon (eK)</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A2A3A"/>
                          </a:solidFill>
                          <a:latin typeface="Arial" pitchFamily="34" charset="0"/>
                          <a:ea typeface="Arial" pitchFamily="34" charset="-122"/>
                          <a:cs typeface="Arial" pitchFamily="34" charset="-120"/>
                        </a:rPr>
                        <a:t>Voice notes + images, green border</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000" dirty="0">
                          <a:solidFill>
                            <a:srgbClr val="1A2A3A"/>
                          </a:solidFill>
                          <a:latin typeface="Arial" pitchFamily="34" charset="0"/>
                          <a:ea typeface="Arial" pitchFamily="34" charset="-122"/>
                          <a:cs typeface="Arial" pitchFamily="34" charset="-120"/>
                        </a:rPr>
                        <a:t>Instagram</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A2A3A"/>
                          </a:solidFill>
                          <a:latin typeface="Arial" pitchFamily="34" charset="0"/>
                          <a:ea typeface="Arial" pitchFamily="34" charset="-122"/>
                          <a:cs typeface="Arial" pitchFamily="34" charset="-120"/>
                        </a:rPr>
                        <a:t>Logo icon (eK)</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A2A3A"/>
                          </a:solidFill>
                          <a:latin typeface="Arial" pitchFamily="34" charset="0"/>
                          <a:ea typeface="Arial" pitchFamily="34" charset="-122"/>
                          <a:cs typeface="Arial" pitchFamily="34" charset="-120"/>
                        </a:rPr>
                        <a:t>Community-focused content</a:t>
                      </a:r>
                      <a:endParaRPr lang="en-US" sz="10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6217920" y="1463040"/>
            <a:ext cx="4572000" cy="274320"/>
          </a:xfrm>
          <a:prstGeom prst="rect">
            <a:avLst/>
          </a:prstGeom>
          <a:noFill/>
          <a:ln/>
        </p:spPr>
        <p:txBody>
          <a:bodyPr wrap="square" rtlCol="0" anchor="ctr"/>
          <a:lstStyle/>
          <a:p>
            <a:pPr marL="0" indent="0">
              <a:buNone/>
            </a:pPr>
            <a:r>
              <a:rPr lang="en-US" sz="1200" b="1" kern="0" spc="100" dirty="0">
                <a:solidFill>
                  <a:srgbClr val="0B8C3F"/>
                </a:solidFill>
                <a:latin typeface="Arial" pitchFamily="34" charset="0"/>
                <a:ea typeface="Arial" pitchFamily="34" charset="-122"/>
                <a:cs typeface="Arial" pitchFamily="34" charset="-120"/>
              </a:rPr>
              <a:t>PRINT MATERIALS</a:t>
            </a:r>
            <a:endParaRPr lang="en-US" sz="1200" dirty="0"/>
          </a:p>
        </p:txBody>
      </p:sp>
      <p:graphicFrame>
        <p:nvGraphicFramePr>
          <p:cNvPr id="23" name="Table 1"/>
          <p:cNvGraphicFramePr>
            <a:graphicFrameLocks noGrp="1"/>
          </p:cNvGraphicFramePr>
          <p:nvPr/>
        </p:nvGraphicFramePr>
        <p:xfrm>
          <a:off x="6217920" y="1783080"/>
          <a:ext cx="5394960" cy="2487168"/>
        </p:xfrm>
        <a:graphic>
          <a:graphicData uri="http://schemas.openxmlformats.org/drawingml/2006/table">
            <a:tbl>
              <a:tblPr/>
              <a:tblGrid>
                <a:gridCol w="1737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621792">
                <a:tc>
                  <a:txBody>
                    <a:bodyPr/>
                    <a:lstStyle/>
                    <a:p>
                      <a:pPr marL="0" indent="0">
                        <a:buNone/>
                      </a:pPr>
                      <a:r>
                        <a:rPr lang="en-US" sz="1050" dirty="0">
                          <a:solidFill>
                            <a:srgbClr val="1A2A3A"/>
                          </a:solidFill>
                          <a:latin typeface="Arial" pitchFamily="34" charset="0"/>
                          <a:ea typeface="Arial" pitchFamily="34" charset="-122"/>
                          <a:cs typeface="Arial" pitchFamily="34" charset="-120"/>
                        </a:rPr>
                        <a:t>Flyers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Green &amp; white, Gold accents, logo top, clear CTA</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621792">
                <a:tc>
                  <a:txBody>
                    <a:bodyPr/>
                    <a:lstStyle/>
                    <a:p>
                      <a:pPr marL="0" indent="0">
                        <a:buNone/>
                      </a:pPr>
                      <a:r>
                        <a:rPr lang="en-US" sz="1050" dirty="0">
                          <a:solidFill>
                            <a:srgbClr val="1A2A3A"/>
                          </a:solidFill>
                          <a:latin typeface="Arial" pitchFamily="34" charset="0"/>
                          <a:ea typeface="Arial" pitchFamily="34" charset="-122"/>
                          <a:cs typeface="Arial" pitchFamily="34" charset="-120"/>
                        </a:rPr>
                        <a:t>Posters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Bold headline, R399 price prominent, contact details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050" dirty="0">
                          <a:solidFill>
                            <a:srgbClr val="1A2A3A"/>
                          </a:solidFill>
                          <a:latin typeface="Arial" pitchFamily="34" charset="0"/>
                          <a:ea typeface="Arial" pitchFamily="34" charset="-122"/>
                          <a:cs typeface="Arial" pitchFamily="34" charset="-120"/>
                        </a:rPr>
                        <a:t>Business Cards</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Logo on front, contact details on back, green accent</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050" dirty="0">
                          <a:solidFill>
                            <a:srgbClr val="1A2A3A"/>
                          </a:solidFill>
                          <a:latin typeface="Arial" pitchFamily="34" charset="0"/>
                          <a:ea typeface="Arial" pitchFamily="34" charset="-122"/>
                          <a:cs typeface="Arial" pitchFamily="34" charset="-120"/>
                        </a:rPr>
                        <a:t>Vehicle Branding</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A2A3A"/>
                          </a:solidFill>
                          <a:latin typeface="Arial" pitchFamily="34" charset="0"/>
                          <a:ea typeface="Arial" pitchFamily="34" charset="-122"/>
                          <a:cs typeface="Arial" pitchFamily="34" charset="-120"/>
                        </a:rPr>
                        <a:t>Logo large on sides, tagline, contact number</a:t>
                      </a:r>
                      <a:endParaRPr lang="en-US" sz="10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4"/>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9"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10" name="Text 5"/>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Messaging Framework</a:t>
            </a:r>
            <a:endParaRPr lang="en-US" sz="3000" dirty="0"/>
          </a:p>
        </p:txBody>
      </p:sp>
      <p:sp>
        <p:nvSpPr>
          <p:cNvPr id="4" name="Shape 2"/>
          <p:cNvSpPr/>
          <p:nvPr/>
        </p:nvSpPr>
        <p:spPr>
          <a:xfrm>
            <a:off x="548640" y="1508760"/>
            <a:ext cx="11064240" cy="1005840"/>
          </a:xfrm>
          <a:prstGeom prst="roundRect">
            <a:avLst>
              <a:gd name="adj" fmla="val 7273"/>
            </a:avLst>
          </a:prstGeom>
          <a:solidFill>
            <a:srgbClr val="1A2A3A"/>
          </a:solidFill>
          <a:ln/>
        </p:spPr>
        <p:txBody>
          <a:bodyPr/>
          <a:lstStyle/>
          <a:p>
            <a:endParaRPr lang="en-ZA"/>
          </a:p>
        </p:txBody>
      </p:sp>
      <p:sp>
        <p:nvSpPr>
          <p:cNvPr id="5" name="Text 3"/>
          <p:cNvSpPr/>
          <p:nvPr/>
        </p:nvSpPr>
        <p:spPr>
          <a:xfrm>
            <a:off x="822960" y="1645920"/>
            <a:ext cx="3657600" cy="274320"/>
          </a:xfrm>
          <a:prstGeom prst="rect">
            <a:avLst/>
          </a:prstGeom>
          <a:noFill/>
          <a:ln/>
        </p:spPr>
        <p:txBody>
          <a:bodyPr wrap="square" rtlCol="0" anchor="ctr"/>
          <a:lstStyle/>
          <a:p>
            <a:pPr marL="0" indent="0">
              <a:buNone/>
            </a:pPr>
            <a:r>
              <a:rPr lang="en-US" sz="1050" b="1" kern="0" spc="100" dirty="0">
                <a:solidFill>
                  <a:srgbClr val="F5B342"/>
                </a:solidFill>
                <a:latin typeface="Arial" pitchFamily="34" charset="0"/>
                <a:ea typeface="Arial" pitchFamily="34" charset="-122"/>
                <a:cs typeface="Arial" pitchFamily="34" charset="-120"/>
              </a:rPr>
              <a:t>ELEVATOR PITCH</a:t>
            </a:r>
            <a:endParaRPr lang="en-US" sz="1050" dirty="0"/>
          </a:p>
        </p:txBody>
      </p:sp>
      <p:sp>
        <p:nvSpPr>
          <p:cNvPr id="6" name="Text 4"/>
          <p:cNvSpPr/>
          <p:nvPr/>
        </p:nvSpPr>
        <p:spPr>
          <a:xfrm>
            <a:off x="822960" y="1920240"/>
            <a:ext cx="10515600" cy="502920"/>
          </a:xfrm>
          <a:prstGeom prst="rect">
            <a:avLst/>
          </a:prstGeom>
          <a:noFill/>
          <a:ln/>
        </p:spPr>
        <p:txBody>
          <a:bodyPr wrap="square" rtlCol="0" anchor="t"/>
          <a:lstStyle/>
          <a:p>
            <a:pPr marL="0" indent="0">
              <a:buNone/>
            </a:pPr>
            <a:r>
              <a:rPr lang="en-US" sz="1450" i="1" dirty="0">
                <a:solidFill>
                  <a:srgbClr val="FFFFFF"/>
                </a:solidFill>
                <a:latin typeface="Arial" pitchFamily="34" charset="0"/>
                <a:ea typeface="Arial" pitchFamily="34" charset="-122"/>
                <a:cs typeface="Arial" pitchFamily="34" charset="-120"/>
              </a:rPr>
              <a:t>“eKhaya Connect brings uncapped home Wi-Fi to Khayelitsha for the price of your DStv.”</a:t>
            </a:r>
            <a:endParaRPr lang="en-US" sz="1450" dirty="0"/>
          </a:p>
        </p:txBody>
      </p:sp>
      <p:sp>
        <p:nvSpPr>
          <p:cNvPr id="7" name="Shape 5"/>
          <p:cNvSpPr/>
          <p:nvPr/>
        </p:nvSpPr>
        <p:spPr>
          <a:xfrm>
            <a:off x="548640" y="2697480"/>
            <a:ext cx="11064240" cy="1600200"/>
          </a:xfrm>
          <a:prstGeom prst="roundRect">
            <a:avLst>
              <a:gd name="adj" fmla="val 4571"/>
            </a:avLst>
          </a:prstGeom>
          <a:solidFill>
            <a:srgbClr val="FFFFFF"/>
          </a:solidFill>
          <a:ln w="12700">
            <a:solidFill>
              <a:srgbClr val="E2E8F0"/>
            </a:solidFill>
            <a:prstDash val="solid"/>
          </a:ln>
        </p:spPr>
        <p:txBody>
          <a:bodyPr/>
          <a:lstStyle/>
          <a:p>
            <a:endParaRPr lang="en-ZA"/>
          </a:p>
        </p:txBody>
      </p:sp>
      <p:sp>
        <p:nvSpPr>
          <p:cNvPr id="8" name="Text 6"/>
          <p:cNvSpPr/>
          <p:nvPr/>
        </p:nvSpPr>
        <p:spPr>
          <a:xfrm>
            <a:off x="822960" y="2834640"/>
            <a:ext cx="4572000" cy="274320"/>
          </a:xfrm>
          <a:prstGeom prst="rect">
            <a:avLst/>
          </a:prstGeom>
          <a:noFill/>
          <a:ln/>
        </p:spPr>
        <p:txBody>
          <a:bodyPr wrap="square" rtlCol="0" anchor="ctr"/>
          <a:lstStyle/>
          <a:p>
            <a:pPr marL="0" indent="0">
              <a:buNone/>
            </a:pPr>
            <a:r>
              <a:rPr lang="en-US" sz="1050" b="1" kern="0" spc="100" dirty="0">
                <a:solidFill>
                  <a:srgbClr val="0B8C3F"/>
                </a:solidFill>
                <a:latin typeface="Arial" pitchFamily="34" charset="0"/>
                <a:ea typeface="Arial" pitchFamily="34" charset="-122"/>
                <a:cs typeface="Arial" pitchFamily="34" charset="-120"/>
              </a:rPr>
              <a:t>ONE-PARAGRAPH PITCH</a:t>
            </a:r>
            <a:endParaRPr lang="en-US" sz="1050" dirty="0"/>
          </a:p>
        </p:txBody>
      </p:sp>
      <p:sp>
        <p:nvSpPr>
          <p:cNvPr id="9" name="Text 7"/>
          <p:cNvSpPr/>
          <p:nvPr/>
        </p:nvSpPr>
        <p:spPr>
          <a:xfrm>
            <a:off x="822960" y="3127248"/>
            <a:ext cx="10515600" cy="1097280"/>
          </a:xfrm>
          <a:prstGeom prst="rect">
            <a:avLst/>
          </a:prstGeom>
          <a:noFill/>
          <a:ln/>
        </p:spPr>
        <p:txBody>
          <a:bodyPr wrap="square" rtlCol="0" anchor="t"/>
          <a:lstStyle/>
          <a:p>
            <a:pPr marL="0" indent="0">
              <a:lnSpc>
                <a:spcPct val="120000"/>
              </a:lnSpc>
              <a:buNone/>
            </a:pPr>
            <a:r>
              <a:rPr lang="en-US" sz="1200" dirty="0">
                <a:solidFill>
                  <a:srgbClr val="1A2A3A"/>
                </a:solidFill>
                <a:latin typeface="Arial" pitchFamily="34" charset="0"/>
                <a:ea typeface="Arial" pitchFamily="34" charset="-122"/>
                <a:cs typeface="Arial" pitchFamily="34" charset="-120"/>
              </a:rPr>
              <a:t>eKhaya Connect is a community-owned wireless internet provider that offers truly uncapped home Wi-Fi for R399 per month — the same price as DStv Compact. We provide 10 Mbps speeds with no throttling, no contracts, and free installation on Standard and Premium plans. We're your neighbours, and we support you in English and isiXhosa.</a:t>
            </a:r>
            <a:endParaRPr lang="en-US" sz="1200" dirty="0"/>
          </a:p>
        </p:txBody>
      </p:sp>
      <p:sp>
        <p:nvSpPr>
          <p:cNvPr id="10" name="Text 8"/>
          <p:cNvSpPr/>
          <p:nvPr/>
        </p:nvSpPr>
        <p:spPr>
          <a:xfrm>
            <a:off x="548640" y="4526280"/>
            <a:ext cx="4572000" cy="274320"/>
          </a:xfrm>
          <a:prstGeom prst="rect">
            <a:avLst/>
          </a:prstGeom>
          <a:noFill/>
          <a:ln/>
        </p:spPr>
        <p:txBody>
          <a:bodyPr wrap="square" rtlCol="0" anchor="ctr"/>
          <a:lstStyle/>
          <a:p>
            <a:pPr marL="0" indent="0">
              <a:buNone/>
            </a:pPr>
            <a:r>
              <a:rPr lang="en-US" sz="1100" b="1" kern="0" spc="100" dirty="0">
                <a:solidFill>
                  <a:srgbClr val="0B8C3F"/>
                </a:solidFill>
                <a:latin typeface="Arial" pitchFamily="34" charset="0"/>
                <a:ea typeface="Arial" pitchFamily="34" charset="-122"/>
                <a:cs typeface="Arial" pitchFamily="34" charset="-120"/>
              </a:rPr>
              <a:t>KEY MESSAGES</a:t>
            </a:r>
            <a:endParaRPr lang="en-US" sz="1100" dirty="0"/>
          </a:p>
        </p:txBody>
      </p:sp>
      <p:graphicFrame>
        <p:nvGraphicFramePr>
          <p:cNvPr id="13" name="Table 0"/>
          <p:cNvGraphicFramePr>
            <a:graphicFrameLocks noGrp="1"/>
          </p:cNvGraphicFramePr>
          <p:nvPr/>
        </p:nvGraphicFramePr>
        <p:xfrm>
          <a:off x="548640" y="4846320"/>
          <a:ext cx="11109960" cy="1463040"/>
        </p:xfrm>
        <a:graphic>
          <a:graphicData uri="http://schemas.openxmlformats.org/drawingml/2006/table">
            <a:tbl>
              <a:tblPr/>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Arial" pitchFamily="34" charset="0"/>
                          <a:ea typeface="Arial" pitchFamily="34" charset="-122"/>
                          <a:cs typeface="Arial" pitchFamily="34" charset="-120"/>
                        </a:rPr>
                        <a:t>Message</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Supporting Statement</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1A2A3A"/>
                          </a:solidFill>
                          <a:latin typeface="Arial" pitchFamily="34" charset="0"/>
                          <a:ea typeface="Arial" pitchFamily="34" charset="-122"/>
                          <a:cs typeface="Arial" pitchFamily="34" charset="-120"/>
                        </a:rPr>
                        <a:t>“Affordable”</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R399/month matches what families already pay for DStv</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50" dirty="0">
                          <a:solidFill>
                            <a:srgbClr val="1A2A3A"/>
                          </a:solidFill>
                          <a:latin typeface="Arial" pitchFamily="34" charset="0"/>
                          <a:ea typeface="Arial" pitchFamily="34" charset="-122"/>
                          <a:cs typeface="Arial" pitchFamily="34" charset="-120"/>
                        </a:rPr>
                        <a:t>“Reliable”</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10 Mbps, truly uncapped, no fair-usage policy</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50" dirty="0">
                          <a:solidFill>
                            <a:srgbClr val="1A2A3A"/>
                          </a:solidFill>
                          <a:latin typeface="Arial" pitchFamily="34" charset="0"/>
                          <a:ea typeface="Arial" pitchFamily="34" charset="-122"/>
                          <a:cs typeface="Arial" pitchFamily="34" charset="-120"/>
                        </a:rPr>
                        <a:t>“Local”</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A2A3A"/>
                          </a:solidFill>
                          <a:latin typeface="Arial" pitchFamily="34" charset="0"/>
                          <a:ea typeface="Arial" pitchFamily="34" charset="-122"/>
                          <a:cs typeface="Arial" pitchFamily="34" charset="-120"/>
                        </a:rPr>
                        <a:t>Community-owned, local support, profits reinvested</a:t>
                      </a:r>
                      <a:endParaRPr lang="en-US" sz="11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Shape 9"/>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11"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14" name="Text 10"/>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300" b="1" kern="0" spc="20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marL="0" indent="0">
              <a:buNone/>
            </a:pPr>
            <a:r>
              <a:rPr lang="en-US" sz="3000" b="1" dirty="0">
                <a:solidFill>
                  <a:srgbClr val="1A2A3A"/>
                </a:solidFill>
                <a:latin typeface="Arial" pitchFamily="34" charset="0"/>
                <a:ea typeface="Arial" pitchFamily="34" charset="-122"/>
                <a:cs typeface="Arial" pitchFamily="34" charset="-120"/>
              </a:rPr>
              <a:t>Competitor Positioning</a:t>
            </a:r>
            <a:endParaRPr lang="en-US" sz="3000" dirty="0"/>
          </a:p>
        </p:txBody>
      </p:sp>
      <p:graphicFrame>
        <p:nvGraphicFramePr>
          <p:cNvPr id="14" name="Table 0"/>
          <p:cNvGraphicFramePr>
            <a:graphicFrameLocks noGrp="1"/>
          </p:cNvGraphicFramePr>
          <p:nvPr/>
        </p:nvGraphicFramePr>
        <p:xfrm>
          <a:off x="548640" y="1828800"/>
          <a:ext cx="11109960" cy="2185416"/>
        </p:xfrm>
        <a:graphic>
          <a:graphicData uri="http://schemas.openxmlformats.org/drawingml/2006/table">
            <a:tbl>
              <a:tblPr/>
              <a:tblGrid>
                <a:gridCol w="27432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Competitor</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Their Weakness</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Our Advantage</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extLst>
                  <a:ext uri="{0D108BD9-81ED-4DB2-BD59-A6C34878D82A}">
                    <a16:rowId xmlns:a16="http://schemas.microsoft.com/office/drawing/2014/main" val="10000"/>
                  </a:ext>
                </a:extLst>
              </a:tr>
              <a:tr h="576072">
                <a:tc>
                  <a:txBody>
                    <a:bodyPr/>
                    <a:lstStyle/>
                    <a:p>
                      <a:pPr marL="0" indent="0">
                        <a:buNone/>
                      </a:pPr>
                      <a:r>
                        <a:rPr lang="en-US" sz="1300" dirty="0">
                          <a:solidFill>
                            <a:srgbClr val="1A2A3A"/>
                          </a:solidFill>
                          <a:latin typeface="Arial" pitchFamily="34" charset="0"/>
                          <a:ea typeface="Arial" pitchFamily="34" charset="-122"/>
                          <a:cs typeface="Arial" pitchFamily="34" charset="-120"/>
                        </a:rPr>
                        <a:t>Vodacom/MTN</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1A2A3A"/>
                          </a:solidFill>
                          <a:latin typeface="Arial" pitchFamily="34" charset="0"/>
                          <a:ea typeface="Arial" pitchFamily="34" charset="-122"/>
                          <a:cs typeface="Arial" pitchFamily="34" charset="-120"/>
                        </a:rPr>
                        <a:t>Expensive per GB, throttled “uncapped” plans</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1A2A3A"/>
                          </a:solidFill>
                          <a:latin typeface="Arial" pitchFamily="34" charset="0"/>
                          <a:ea typeface="Arial" pitchFamily="34" charset="-122"/>
                          <a:cs typeface="Arial" pitchFamily="34" charset="-120"/>
                        </a:rPr>
                        <a:t>One fixed price, truly uncapped</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76072">
                <a:tc>
                  <a:txBody>
                    <a:bodyPr/>
                    <a:lstStyle/>
                    <a:p>
                      <a:pPr marL="0" indent="0">
                        <a:buNone/>
                      </a:pPr>
                      <a:r>
                        <a:rPr lang="en-US" sz="1300" dirty="0">
                          <a:solidFill>
                            <a:srgbClr val="1A2A3A"/>
                          </a:solidFill>
                          <a:latin typeface="Arial" pitchFamily="34" charset="0"/>
                          <a:ea typeface="Arial" pitchFamily="34" charset="-122"/>
                          <a:cs typeface="Arial" pitchFamily="34" charset="-120"/>
                        </a:rPr>
                        <a:t>Fibre (Vumatel)</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1A2A3A"/>
                          </a:solidFill>
                          <a:latin typeface="Arial" pitchFamily="34" charset="0"/>
                          <a:ea typeface="Arial" pitchFamily="34" charset="-122"/>
                          <a:cs typeface="Arial" pitchFamily="34" charset="-120"/>
                        </a:rPr>
                        <a:t>Not available in Khayelitsha, expensive</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1A2A3A"/>
                          </a:solidFill>
                          <a:latin typeface="Arial" pitchFamily="34" charset="0"/>
                          <a:ea typeface="Arial" pitchFamily="34" charset="-122"/>
                          <a:cs typeface="Arial" pitchFamily="34" charset="-120"/>
                        </a:rPr>
                        <a:t>Wireless, affordable, available</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76072">
                <a:tc>
                  <a:txBody>
                    <a:bodyPr/>
                    <a:lstStyle/>
                    <a:p>
                      <a:pPr marL="0" indent="0">
                        <a:buNone/>
                      </a:pPr>
                      <a:r>
                        <a:rPr lang="en-US" sz="1300" dirty="0">
                          <a:solidFill>
                            <a:srgbClr val="1A2A3A"/>
                          </a:solidFill>
                          <a:latin typeface="Arial" pitchFamily="34" charset="0"/>
                          <a:ea typeface="Arial" pitchFamily="34" charset="-122"/>
                          <a:cs typeface="Arial" pitchFamily="34" charset="-120"/>
                        </a:rPr>
                        <a:t>Other WISPs</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1A2A3A"/>
                          </a:solidFill>
                          <a:latin typeface="Arial" pitchFamily="34" charset="0"/>
                          <a:ea typeface="Arial" pitchFamily="34" charset="-122"/>
                          <a:cs typeface="Arial" pitchFamily="34" charset="-120"/>
                        </a:rPr>
                        <a:t>Voucher model, unclear support</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1A2A3A"/>
                          </a:solidFill>
                          <a:latin typeface="Arial" pitchFamily="34" charset="0"/>
                          <a:ea typeface="Arial" pitchFamily="34" charset="-122"/>
                          <a:cs typeface="Arial" pitchFamily="34" charset="-120"/>
                        </a:rPr>
                        <a:t>Subscription model, local support</a:t>
                      </a:r>
                      <a:endParaRPr lang="en-US" sz="13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4343400"/>
            <a:ext cx="11064240" cy="1463040"/>
          </a:xfrm>
          <a:prstGeom prst="roundRect">
            <a:avLst>
              <a:gd name="adj" fmla="val 5000"/>
            </a:avLst>
          </a:prstGeom>
          <a:solidFill>
            <a:srgbClr val="F5B342"/>
          </a:solidFill>
          <a:ln/>
        </p:spPr>
        <p:txBody>
          <a:bodyPr/>
          <a:lstStyle/>
          <a:p>
            <a:endParaRPr lang="en-ZA"/>
          </a:p>
        </p:txBody>
      </p:sp>
      <p:sp>
        <p:nvSpPr>
          <p:cNvPr id="6" name="Text 3"/>
          <p:cNvSpPr/>
          <p:nvPr/>
        </p:nvSpPr>
        <p:spPr>
          <a:xfrm>
            <a:off x="822960" y="4498848"/>
            <a:ext cx="3657600" cy="274320"/>
          </a:xfrm>
          <a:prstGeom prst="rect">
            <a:avLst/>
          </a:prstGeom>
          <a:noFill/>
          <a:ln/>
        </p:spPr>
        <p:txBody>
          <a:bodyPr wrap="square" rtlCol="0" anchor="ctr"/>
          <a:lstStyle/>
          <a:p>
            <a:pPr marL="0" indent="0">
              <a:buNone/>
            </a:pPr>
            <a:r>
              <a:rPr lang="en-US" sz="1100" b="1" kern="0" spc="100" dirty="0">
                <a:solidFill>
                  <a:srgbClr val="7A5205"/>
                </a:solidFill>
                <a:latin typeface="Arial" pitchFamily="34" charset="0"/>
                <a:ea typeface="Arial" pitchFamily="34" charset="-122"/>
                <a:cs typeface="Arial" pitchFamily="34" charset="-120"/>
              </a:rPr>
              <a:t>USP</a:t>
            </a:r>
            <a:endParaRPr lang="en-US" sz="1100" dirty="0"/>
          </a:p>
        </p:txBody>
      </p:sp>
      <p:sp>
        <p:nvSpPr>
          <p:cNvPr id="7" name="Text 4"/>
          <p:cNvSpPr/>
          <p:nvPr/>
        </p:nvSpPr>
        <p:spPr>
          <a:xfrm>
            <a:off x="822960" y="4773168"/>
            <a:ext cx="10424160" cy="914400"/>
          </a:xfrm>
          <a:prstGeom prst="rect">
            <a:avLst/>
          </a:prstGeom>
          <a:noFill/>
          <a:ln/>
        </p:spPr>
        <p:txBody>
          <a:bodyPr wrap="square" rtlCol="0" anchor="t"/>
          <a:lstStyle/>
          <a:p>
            <a:pPr marL="0" indent="0">
              <a:buNone/>
            </a:pPr>
            <a:r>
              <a:rPr lang="en-US" sz="2400" b="1" dirty="0">
                <a:solidFill>
                  <a:srgbClr val="1A2A3A"/>
                </a:solidFill>
                <a:latin typeface="Arial" pitchFamily="34" charset="0"/>
                <a:ea typeface="Arial" pitchFamily="34" charset="-122"/>
                <a:cs typeface="Arial" pitchFamily="34" charset="-120"/>
              </a:rPr>
              <a:t>“Home Wi-Fi for the Price of Your DStv.”</a:t>
            </a:r>
            <a:endParaRPr lang="en-US" sz="2400" dirty="0"/>
          </a:p>
        </p:txBody>
      </p:sp>
      <p:sp>
        <p:nvSpPr>
          <p:cNvPr id="8" name="Shape 5"/>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txBody>
          <a:bodyPr/>
          <a:lstStyle/>
          <a:p>
            <a:endParaRPr lang="en-ZA"/>
          </a:p>
        </p:txBody>
      </p:sp>
      <p:pic>
        <p:nvPicPr>
          <p:cNvPr id="9" name="Image 0" descr="/home/claude/ekhaya/logo_icon_square.png"/>
          <p:cNvPicPr>
            <a:picLocks noChangeAspect="1"/>
          </p:cNvPicPr>
          <p:nvPr/>
        </p:nvPicPr>
        <p:blipFill>
          <a:blip r:embed="rId3"/>
          <a:stretch>
            <a:fillRect/>
          </a:stretch>
        </p:blipFill>
        <p:spPr>
          <a:xfrm>
            <a:off x="483535" y="6427135"/>
            <a:ext cx="239939" cy="239939"/>
          </a:xfrm>
          <a:prstGeom prst="rect">
            <a:avLst/>
          </a:prstGeom>
        </p:spPr>
      </p:pic>
      <p:sp>
        <p:nvSpPr>
          <p:cNvPr id="10" name="Text 6"/>
          <p:cNvSpPr/>
          <p:nvPr/>
        </p:nvSpPr>
        <p:spPr>
          <a:xfrm>
            <a:off x="841248" y="6419088"/>
            <a:ext cx="4572000" cy="292608"/>
          </a:xfrm>
          <a:prstGeom prst="rect">
            <a:avLst/>
          </a:prstGeom>
          <a:noFill/>
          <a:ln/>
        </p:spPr>
        <p:txBody>
          <a:bodyPr wrap="square" rtlCol="0" anchor="ctr"/>
          <a:lstStyle/>
          <a:p>
            <a:pPr marL="0" indent="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A3A"/>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066B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457200"/>
            <a:ext cx="731520" cy="731520"/>
          </a:xfrm>
          <a:prstGeom prst="roundRect">
            <a:avLst>
              <a:gd name="adj" fmla="val 16000"/>
            </a:avLst>
          </a:prstGeom>
          <a:solidFill>
            <a:srgbClr val="FFFFFF"/>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home/claude/ekhaya/logo_icon_square.png"/>
          <p:cNvPicPr>
            <a:picLocks noChangeAspect="1"/>
          </p:cNvPicPr>
          <p:nvPr/>
        </p:nvPicPr>
        <p:blipFill>
          <a:blip r:embed="rId3"/>
          <a:stretch>
            <a:fillRect/>
          </a:stretch>
        </p:blipFill>
        <p:spPr>
          <a:xfrm>
            <a:off x="614477" y="523037"/>
            <a:ext cx="599846" cy="599846"/>
          </a:xfrm>
          <a:prstGeom prst="rect">
            <a:avLst/>
          </a:prstGeom>
        </p:spPr>
      </p:pic>
      <p:sp>
        <p:nvSpPr>
          <p:cNvPr id="5" name="Text 2"/>
          <p:cNvSpPr/>
          <p:nvPr/>
        </p:nvSpPr>
        <p:spPr>
          <a:xfrm>
            <a:off x="1463040" y="457200"/>
            <a:ext cx="73152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Quick Reference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5" name="Table 0"/>
          <p:cNvGraphicFramePr>
            <a:graphicFrameLocks noGrp="1"/>
          </p:cNvGraphicFramePr>
          <p:nvPr/>
        </p:nvGraphicFramePr>
        <p:xfrm>
          <a:off x="548640" y="1417320"/>
          <a:ext cx="11109960"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9098280">
                  <a:extLst>
                    <a:ext uri="{9D8B030D-6E8A-4147-A177-3AD203B41FA5}">
                      <a16:colId xmlns:a16="http://schemas.microsoft.com/office/drawing/2014/main" val="20001"/>
                    </a:ext>
                  </a:extLst>
                </a:gridCol>
              </a:tblGrid>
              <a:tr h="457200">
                <a:tc>
                  <a:txBody>
                    <a:bodyPr/>
                    <a:lstStyle/>
                    <a:p>
                      <a:pPr marL="0" indent="0">
                        <a:buNone/>
                      </a:pPr>
                      <a:r>
                        <a:rPr lang="en-US" sz="1250" b="1" dirty="0">
                          <a:solidFill>
                            <a:srgbClr val="F5B342"/>
                          </a:solidFill>
                          <a:latin typeface="Arial" pitchFamily="34" charset="0"/>
                          <a:ea typeface="Arial" pitchFamily="34" charset="-122"/>
                          <a:cs typeface="Arial" pitchFamily="34" charset="-120"/>
                        </a:rPr>
                        <a:t>LOGO</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marL="0" indent="0">
                        <a:buNone/>
                      </a:pPr>
                      <a:r>
                        <a:rPr lang="en-US" sz="1250" dirty="0">
                          <a:solidFill>
                            <a:srgbClr val="FFFFFF"/>
                          </a:solidFill>
                          <a:latin typeface="Arial" pitchFamily="34" charset="0"/>
                          <a:ea typeface="Arial" pitchFamily="34" charset="-122"/>
                          <a:cs typeface="Arial" pitchFamily="34" charset="-120"/>
                        </a:rPr>
                        <a:t>Wi-Fi/rooftop mark + “eKhaya Connect” + tagline</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F5B342"/>
                          </a:solidFill>
                          <a:latin typeface="Arial" pitchFamily="34" charset="0"/>
                          <a:ea typeface="Arial" pitchFamily="34" charset="-122"/>
                          <a:cs typeface="Arial" pitchFamily="34" charset="-120"/>
                        </a:rPr>
                        <a:t>COLOURS</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marL="0" indent="0">
                        <a:buNone/>
                      </a:pPr>
                      <a:r>
                        <a:rPr lang="en-US" sz="1250" dirty="0">
                          <a:solidFill>
                            <a:srgbClr val="FFFFFF"/>
                          </a:solidFill>
                          <a:latin typeface="Arial" pitchFamily="34" charset="0"/>
                          <a:ea typeface="Arial" pitchFamily="34" charset="-122"/>
                          <a:cs typeface="Arial" pitchFamily="34" charset="-120"/>
                        </a:rPr>
                        <a:t>Green #0B8C3F · Gold #F5B342 · Dark #1A2A3A</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F5B342"/>
                          </a:solidFill>
                          <a:latin typeface="Arial" pitchFamily="34" charset="0"/>
                          <a:ea typeface="Arial" pitchFamily="34" charset="-122"/>
                          <a:cs typeface="Arial" pitchFamily="34" charset="-120"/>
                        </a:rPr>
                        <a:t>FONT</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marL="0" indent="0">
                        <a:buNone/>
                      </a:pPr>
                      <a:r>
                        <a:rPr lang="en-US" sz="1250" dirty="0">
                          <a:solidFill>
                            <a:srgbClr val="FFFFFF"/>
                          </a:solidFill>
                          <a:latin typeface="Arial" pitchFamily="34" charset="0"/>
                          <a:ea typeface="Arial" pitchFamily="34" charset="-122"/>
                          <a:cs typeface="Arial" pitchFamily="34" charset="-120"/>
                        </a:rPr>
                        <a:t>Inter (800 / 700 / 600 / 400)</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F5B342"/>
                          </a:solidFill>
                          <a:latin typeface="Arial" pitchFamily="34" charset="0"/>
                          <a:ea typeface="Arial" pitchFamily="34" charset="-122"/>
                          <a:cs typeface="Arial" pitchFamily="34" charset="-120"/>
                        </a:rPr>
                        <a:t>VOICE</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marL="0" indent="0">
                        <a:buNone/>
                      </a:pPr>
                      <a:r>
                        <a:rPr lang="en-US" sz="1250" dirty="0">
                          <a:solidFill>
                            <a:srgbClr val="FFFFFF"/>
                          </a:solidFill>
                          <a:latin typeface="Arial" pitchFamily="34" charset="0"/>
                          <a:ea typeface="Arial" pitchFamily="34" charset="-122"/>
                          <a:cs typeface="Arial" pitchFamily="34" charset="-120"/>
                        </a:rPr>
                        <a:t>Warm · Clear · Confident · Empowering</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F5B342"/>
                          </a:solidFill>
                          <a:latin typeface="Arial" pitchFamily="34" charset="0"/>
                          <a:ea typeface="Arial" pitchFamily="34" charset="-122"/>
                          <a:cs typeface="Arial" pitchFamily="34" charset="-120"/>
                        </a:rPr>
                        <a:t>TAGLINE</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marL="0" indent="0">
                        <a:buNone/>
                      </a:pPr>
                      <a:r>
                        <a:rPr lang="en-US" sz="1250" dirty="0">
                          <a:solidFill>
                            <a:srgbClr val="FFFFFF"/>
                          </a:solidFill>
                          <a:latin typeface="Arial" pitchFamily="34" charset="0"/>
                          <a:ea typeface="Arial" pitchFamily="34" charset="-122"/>
                          <a:cs typeface="Arial" pitchFamily="34" charset="-120"/>
                        </a:rPr>
                        <a:t>“Connecting Homes · Empowering Communities”</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F5B342"/>
                          </a:solidFill>
                          <a:latin typeface="Arial" pitchFamily="34" charset="0"/>
                          <a:ea typeface="Arial" pitchFamily="34" charset="-122"/>
                          <a:cs typeface="Arial" pitchFamily="34" charset="-120"/>
                        </a:rPr>
                        <a:t>USP</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marL="0" indent="0">
                        <a:buNone/>
                      </a:pPr>
                      <a:r>
                        <a:rPr lang="en-US" sz="1250" dirty="0">
                          <a:solidFill>
                            <a:srgbClr val="FFFFFF"/>
                          </a:solidFill>
                          <a:latin typeface="Arial" pitchFamily="34" charset="0"/>
                          <a:ea typeface="Arial" pitchFamily="34" charset="-122"/>
                          <a:cs typeface="Arial" pitchFamily="34" charset="-120"/>
                        </a:rPr>
                        <a:t>“Home Wi-Fi for the Price of Your DStv”</a:t>
                      </a:r>
                      <a:endParaRPr lang="en-US" sz="1250" dirty="0">
                        <a:latin typeface="Arial" charset="0"/>
                        <a:ea typeface="Arial" charset="0"/>
                        <a:cs typeface="Arial" charset="0"/>
                      </a:endParaRPr>
                    </a:p>
                  </a:txBody>
                  <a:tcPr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extLst>
                  <a:ext uri="{0D108BD9-81ED-4DB2-BD59-A6C34878D82A}">
                    <a16:rowId xmlns:a16="http://schemas.microsoft.com/office/drawing/2014/main" val="10005"/>
                  </a:ext>
                </a:extLst>
              </a:tr>
            </a:tbl>
          </a:graphicData>
        </a:graphic>
      </p:graphicFrame>
      <p:sp>
        <p:nvSpPr>
          <p:cNvPr id="7" name="Shape 3"/>
          <p:cNvSpPr/>
          <p:nvPr/>
        </p:nvSpPr>
        <p:spPr>
          <a:xfrm>
            <a:off x="548640" y="4434840"/>
            <a:ext cx="11064240" cy="1371600"/>
          </a:xfrm>
          <a:prstGeom prst="roundRect">
            <a:avLst>
              <a:gd name="adj" fmla="val 5333"/>
            </a:avLst>
          </a:prstGeom>
          <a:solidFill>
            <a:srgbClr val="142234"/>
          </a:solidFill>
          <a:ln w="12700">
            <a:solidFill>
              <a:srgbClr val="2638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4"/>
          <p:cNvSpPr/>
          <p:nvPr/>
        </p:nvSpPr>
        <p:spPr>
          <a:xfrm>
            <a:off x="868680" y="4617720"/>
            <a:ext cx="3657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F5B342"/>
                </a:solidFill>
                <a:effectLst/>
                <a:uLnTx/>
                <a:uFillTx/>
                <a:latin typeface="Arial" pitchFamily="34" charset="0"/>
                <a:ea typeface="Arial" pitchFamily="34" charset="-122"/>
                <a:cs typeface="Arial" pitchFamily="34" charset="-120"/>
              </a:rPr>
              <a:t>GET IN TOUCH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868680" y="493776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063 328 4693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868680" y="5285232"/>
            <a:ext cx="3657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AAAB8"/>
                </a:solidFill>
                <a:effectLst/>
                <a:uLnTx/>
                <a:uFillTx/>
                <a:latin typeface="Arial" pitchFamily="34" charset="0"/>
                <a:ea typeface="Arial" pitchFamily="34" charset="-122"/>
                <a:cs typeface="Arial" pitchFamily="34" charset="-120"/>
              </a:rPr>
              <a:t>Phone &amp; WhatsApp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4663440" y="4937760"/>
            <a:ext cx="4114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info@ekhayaconnect.co.za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4663440" y="5285232"/>
            <a:ext cx="3657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AAAB8"/>
                </a:solidFill>
                <a:effectLst/>
                <a:uLnTx/>
                <a:uFillTx/>
                <a:latin typeface="Arial" pitchFamily="34" charset="0"/>
                <a:ea typeface="Arial" pitchFamily="34" charset="-122"/>
                <a:cs typeface="Arial" pitchFamily="34" charset="-120"/>
              </a:rPr>
              <a:t>Email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8503920" y="4937760"/>
            <a:ext cx="29260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sikhutazejoseph.github.io/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503920" y="5193792"/>
            <a:ext cx="29260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khayelitsha---connect/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11"/>
          <p:cNvSpPr/>
          <p:nvPr/>
        </p:nvSpPr>
        <p:spPr>
          <a:xfrm>
            <a:off x="8503920" y="5486400"/>
            <a:ext cx="29260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AAAB8"/>
                </a:solidFill>
                <a:effectLst/>
                <a:uLnTx/>
                <a:uFillTx/>
                <a:latin typeface="Arial" pitchFamily="34" charset="0"/>
                <a:ea typeface="Arial" pitchFamily="34" charset="-122"/>
                <a:cs typeface="Arial" pitchFamily="34" charset="-120"/>
              </a:rPr>
              <a:t>Website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548640" y="617220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9AAAB8"/>
                </a:solidFill>
                <a:effectLst/>
                <a:uLnTx/>
                <a:uFillTx/>
                <a:latin typeface="Arial" pitchFamily="34" charset="0"/>
                <a:ea typeface="Arial" pitchFamily="34" charset="-122"/>
                <a:cs typeface="Arial" pitchFamily="34" charset="-120"/>
              </a:rPr>
              <a:t>Connecting Homes · Empowering Communities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1241</Words>
  <Application>Microsoft Office PowerPoint</Application>
  <PresentationFormat>Widescreen</PresentationFormat>
  <Paragraphs>306</Paragraphs>
  <Slides>14</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Neue Haas Grotesk Text Pro</vt:lpstr>
      <vt:lpstr>VanillaVTI</vt:lpstr>
      <vt:lpstr>Office Theme</vt:lpstr>
      <vt:lpstr>Brand Guide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Bongiwe Ntwasa</dc:creator>
  <cp:lastModifiedBy>Bongiwe Ntwasa</cp:lastModifiedBy>
  <cp:revision>1</cp:revision>
  <dcterms:created xsi:type="dcterms:W3CDTF">2026-08-06T10:00:30Z</dcterms:created>
  <dcterms:modified xsi:type="dcterms:W3CDTF">2026-08-06T10:47:35Z</dcterms:modified>
</cp:coreProperties>
</file>